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9144000" cy="6858000" type="screen4x3"/>
  <p:notesSz cx="7077075" cy="93837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737934-AF88-18E7-4300-AD1227007182}" v="717" dt="2026-03-16T02:03:36.0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47" autoAdjust="0"/>
    <p:restoredTop sz="94660"/>
  </p:normalViewPr>
  <p:slideViewPr>
    <p:cSldViewPr snapToGrid="0">
      <p:cViewPr varScale="1">
        <p:scale>
          <a:sx n="59" d="100"/>
          <a:sy n="59" d="100"/>
        </p:scale>
        <p:origin x="64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438" y="0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585FD9-73E9-4662-9A33-270BCE8599E1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27163" y="1173163"/>
            <a:ext cx="4222750" cy="31670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8025" y="4516438"/>
            <a:ext cx="5661025" cy="36941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3813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438" y="8913813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8C6905-A04E-4DF0-BF9D-602143EC7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144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C6905-A04E-4DF0-BF9D-602143EC72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49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F03ADC-0F47-419C-AAED-91253E08EC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413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C06C1A-0C60-4C07-9E24-AA09C8B6FA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58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020F82-A768-453F-9EBC-6C1D8D032E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086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3EBD60-92F9-4B29-A0D0-A0E4F19FE5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41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650E7B-9AB3-406A-BE8B-DC70624F36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425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A1E95D-30B2-4194-B072-33CCF3D793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310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EFFB1A-FAB0-4FE0-8EB8-137A11E51D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9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7B0E49-64D1-49C2-A47E-82DB7F917D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9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781EEC-A6AC-44E9-8A45-9F761CC85C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15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038EC4-7770-4315-A5CF-F36381F00B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037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F8AE1A-FA38-4446-94A9-A86D302115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621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13F70CE-0AF4-42C0-91B5-57BC817BE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2"/>
          <p:cNvSpPr txBox="1">
            <a:spLocks noChangeArrowheads="1"/>
          </p:cNvSpPr>
          <p:nvPr/>
        </p:nvSpPr>
        <p:spPr bwMode="auto">
          <a:xfrm>
            <a:off x="277585" y="203880"/>
            <a:ext cx="834390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1.  Given the following key values,  show what the data structures would look like after insertions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           27 53 13 10 138 109 49 174 26 24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(no preprocessing necessary:  </a:t>
            </a:r>
            <a:r>
              <a:rPr lang="en-US" sz="1600" dirty="0" err="1"/>
              <a:t>p</a:t>
            </a:r>
            <a:r>
              <a:rPr lang="en-US" sz="1600" baseline="-25000" dirty="0" err="1"/>
              <a:t>k</a:t>
            </a:r>
            <a:r>
              <a:rPr lang="en-US" sz="1600" baseline="-25000" dirty="0"/>
              <a:t> </a:t>
            </a:r>
            <a:r>
              <a:rPr lang="en-US" sz="1600" dirty="0"/>
              <a:t>= key)</a:t>
            </a:r>
          </a:p>
        </p:txBody>
      </p:sp>
      <p:sp>
        <p:nvSpPr>
          <p:cNvPr id="2052" name="TextBox 1"/>
          <p:cNvSpPr txBox="1">
            <a:spLocks noChangeArrowheads="1"/>
          </p:cNvSpPr>
          <p:nvPr/>
        </p:nvSpPr>
        <p:spPr bwMode="auto">
          <a:xfrm>
            <a:off x="3048000" y="-80963"/>
            <a:ext cx="1765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400"/>
              <a:t>Hashing Lab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30200" y="1016905"/>
            <a:ext cx="4708340" cy="403187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buFontTx/>
              <a:buAutoNum type="alphaLcPeriod"/>
              <a:defRPr/>
            </a:pPr>
            <a:r>
              <a:rPr lang="en-US" sz="1600" dirty="0"/>
              <a:t>Linear array of 10 elements using division hashing</a:t>
            </a:r>
          </a:p>
          <a:p>
            <a:pPr>
              <a:defRPr/>
            </a:pPr>
            <a:r>
              <a:rPr lang="en-US" sz="1600" dirty="0"/>
              <a:t>and the linear-quotient collision path algorithm</a:t>
            </a:r>
          </a:p>
          <a:p>
            <a:pPr>
              <a:defRPr/>
            </a:pPr>
            <a:r>
              <a:rPr lang="en-US" sz="1600" dirty="0"/>
              <a:t>N = 13, 4k+3 prime = </a:t>
            </a:r>
            <a:r>
              <a:rPr lang="en-US" sz="1600" b="1" dirty="0"/>
              <a:t>19</a:t>
            </a:r>
          </a:p>
          <a:p>
            <a:pPr>
              <a:defRPr/>
            </a:pPr>
            <a:endParaRPr lang="en-US" sz="1600" b="1" dirty="0"/>
          </a:p>
          <a:p>
            <a:pPr>
              <a:defRPr/>
            </a:pPr>
            <a:r>
              <a:rPr lang="en-US" sz="1600" b="1" dirty="0" err="1"/>
              <a:t>LQHashing</a:t>
            </a:r>
            <a:r>
              <a:rPr lang="en-US" sz="1600" b="1" dirty="0"/>
              <a:t>:</a:t>
            </a:r>
          </a:p>
          <a:p>
            <a:pPr>
              <a:defRPr/>
            </a:pPr>
            <a:r>
              <a:rPr lang="en-US" sz="1600" dirty="0"/>
              <a:t>1. 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 = </a:t>
            </a:r>
            <a:r>
              <a:rPr lang="en-US" sz="1600" dirty="0" err="1"/>
              <a:t>pk</a:t>
            </a:r>
            <a:r>
              <a:rPr lang="en-US" sz="1600" dirty="0"/>
              <a:t> % N</a:t>
            </a:r>
          </a:p>
          <a:p>
            <a:pPr>
              <a:defRPr/>
            </a:pPr>
            <a:r>
              <a:rPr lang="en-US" sz="1600" dirty="0"/>
              <a:t>2. q=</a:t>
            </a:r>
            <a:r>
              <a:rPr lang="en-US" sz="1600" dirty="0" err="1"/>
              <a:t>pk</a:t>
            </a:r>
            <a:r>
              <a:rPr lang="en-US" sz="1600" dirty="0"/>
              <a:t>/N</a:t>
            </a:r>
          </a:p>
          <a:p>
            <a:pPr>
              <a:defRPr/>
            </a:pPr>
            <a:r>
              <a:rPr lang="en-US" sz="1600" dirty="0"/>
              <a:t>    if (</a:t>
            </a:r>
            <a:r>
              <a:rPr lang="en-US" sz="1600" dirty="0" err="1"/>
              <a:t>q%N</a:t>
            </a:r>
            <a:r>
              <a:rPr lang="en-US" sz="1600" dirty="0"/>
              <a:t> != 0)</a:t>
            </a:r>
          </a:p>
          <a:p>
            <a:pPr>
              <a:defRPr/>
            </a:pPr>
            <a:r>
              <a:rPr lang="en-US" sz="1600" dirty="0"/>
              <a:t>        offset = q</a:t>
            </a:r>
          </a:p>
          <a:p>
            <a:pPr>
              <a:defRPr/>
            </a:pPr>
            <a:r>
              <a:rPr lang="en-US" sz="1600" dirty="0"/>
              <a:t>    else</a:t>
            </a:r>
          </a:p>
          <a:p>
            <a:pPr>
              <a:defRPr/>
            </a:pPr>
            <a:r>
              <a:rPr lang="en-US" sz="1600" dirty="0"/>
              <a:t>        offset = 4k+3 prime</a:t>
            </a:r>
          </a:p>
          <a:p>
            <a:pPr>
              <a:defRPr/>
            </a:pPr>
            <a:r>
              <a:rPr lang="en-US" sz="1600" dirty="0"/>
              <a:t>3. While collisions:</a:t>
            </a:r>
          </a:p>
          <a:p>
            <a:pPr>
              <a:defRPr/>
            </a:pPr>
            <a:r>
              <a:rPr lang="en-US" sz="1600" dirty="0"/>
              <a:t>         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200" baseline="30000" dirty="0"/>
              <a:t>’</a:t>
            </a:r>
            <a:r>
              <a:rPr lang="en-US" sz="1600" dirty="0"/>
              <a:t> = (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 + offset) % N</a:t>
            </a:r>
          </a:p>
          <a:p>
            <a:pPr>
              <a:defRPr/>
            </a:pPr>
            <a:r>
              <a:rPr lang="en-US" sz="1600" dirty="0"/>
              <a:t>4. Set Array[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]=key</a:t>
            </a:r>
          </a:p>
          <a:p>
            <a:pPr>
              <a:defRPr/>
            </a:pPr>
            <a:endParaRPr lang="en-US" sz="1600" dirty="0"/>
          </a:p>
          <a:p>
            <a:pPr>
              <a:defRPr/>
            </a:pPr>
            <a:endParaRPr lang="en-US" sz="1600" dirty="0"/>
          </a:p>
        </p:txBody>
      </p:sp>
      <p:sp>
        <p:nvSpPr>
          <p:cNvPr id="2054" name="Rectangle 5"/>
          <p:cNvSpPr>
            <a:spLocks noChangeArrowheads="1"/>
          </p:cNvSpPr>
          <p:nvPr/>
        </p:nvSpPr>
        <p:spPr bwMode="auto">
          <a:xfrm>
            <a:off x="292555" y="1942419"/>
            <a:ext cx="2408238" cy="2678566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/>
          </a:p>
        </p:txBody>
      </p:sp>
      <p:sp>
        <p:nvSpPr>
          <p:cNvPr id="2056" name="Rectangle 29"/>
          <p:cNvSpPr>
            <a:spLocks noChangeArrowheads="1"/>
          </p:cNvSpPr>
          <p:nvPr/>
        </p:nvSpPr>
        <p:spPr bwMode="auto">
          <a:xfrm>
            <a:off x="3145532" y="1640108"/>
            <a:ext cx="1277937" cy="329112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600" b="1" dirty="0"/>
              <a:t>Array: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321012" y="1923809"/>
            <a:ext cx="784626" cy="3046988"/>
            <a:chOff x="5763485" y="1746270"/>
            <a:chExt cx="784626" cy="3046988"/>
          </a:xfrm>
        </p:grpSpPr>
        <p:grpSp>
          <p:nvGrpSpPr>
            <p:cNvPr id="2058" name="Group 2"/>
            <p:cNvGrpSpPr>
              <a:grpSpLocks/>
            </p:cNvGrpSpPr>
            <p:nvPr/>
          </p:nvGrpSpPr>
          <p:grpSpPr bwMode="auto">
            <a:xfrm>
              <a:off x="6088513" y="1753437"/>
              <a:ext cx="459598" cy="2952978"/>
              <a:chOff x="5427641" y="1844409"/>
              <a:chExt cx="460133" cy="2953092"/>
            </a:xfrm>
          </p:grpSpPr>
          <p:sp>
            <p:nvSpPr>
              <p:cNvPr id="2060" name="Rectangle 7"/>
              <p:cNvSpPr>
                <a:spLocks noChangeArrowheads="1"/>
              </p:cNvSpPr>
              <p:nvPr/>
            </p:nvSpPr>
            <p:spPr bwMode="auto">
              <a:xfrm>
                <a:off x="5427643" y="1844409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t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13</a:t>
                </a:r>
                <a:endParaRPr lang="en-US" sz="1200" b="1" dirty="0">
                  <a:solidFill>
                    <a:srgbClr val="FF0000"/>
                  </a:solidFill>
                  <a:latin typeface="Times New Roman"/>
                  <a:cs typeface="Times New Roman"/>
                </a:endParaRPr>
              </a:p>
            </p:txBody>
          </p:sp>
          <p:sp>
            <p:nvSpPr>
              <p:cNvPr id="2061" name="Rectangle 8"/>
              <p:cNvSpPr>
                <a:spLocks noChangeArrowheads="1"/>
              </p:cNvSpPr>
              <p:nvPr/>
            </p:nvSpPr>
            <p:spPr bwMode="auto">
              <a:xfrm>
                <a:off x="5427646" y="2073928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t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27</a:t>
                </a:r>
                <a:endParaRPr lang="en-US" sz="12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062" name="Rectangle 9"/>
              <p:cNvSpPr>
                <a:spLocks noChangeArrowheads="1"/>
              </p:cNvSpPr>
              <p:nvPr/>
            </p:nvSpPr>
            <p:spPr bwMode="auto">
              <a:xfrm>
                <a:off x="5427643" y="2303447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t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26</a:t>
                </a:r>
                <a:endParaRPr lang="en-US" sz="1200" b="1" dirty="0">
                  <a:solidFill>
                    <a:srgbClr val="FF0000"/>
                  </a:solidFill>
                  <a:latin typeface="Times New Roman"/>
                </a:endParaRPr>
              </a:p>
            </p:txBody>
          </p:sp>
          <p:sp>
            <p:nvSpPr>
              <p:cNvPr id="2063" name="Rectangle 10"/>
              <p:cNvSpPr>
                <a:spLocks noChangeArrowheads="1"/>
              </p:cNvSpPr>
              <p:nvPr/>
            </p:nvSpPr>
            <p:spPr bwMode="auto">
              <a:xfrm>
                <a:off x="5427643" y="2532966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t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109</a:t>
                </a:r>
              </a:p>
            </p:txBody>
          </p:sp>
          <p:sp>
            <p:nvSpPr>
              <p:cNvPr id="2064" name="Rectangle 11"/>
              <p:cNvSpPr>
                <a:spLocks noChangeArrowheads="1"/>
              </p:cNvSpPr>
              <p:nvPr/>
            </p:nvSpPr>
            <p:spPr bwMode="auto">
              <a:xfrm>
                <a:off x="5427643" y="2762485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/>
              </a:p>
            </p:txBody>
          </p:sp>
          <p:sp>
            <p:nvSpPr>
              <p:cNvPr id="2065" name="Rectangle 12"/>
              <p:cNvSpPr>
                <a:spLocks noChangeArrowheads="1"/>
              </p:cNvSpPr>
              <p:nvPr/>
            </p:nvSpPr>
            <p:spPr bwMode="auto">
              <a:xfrm>
                <a:off x="5427643" y="2992004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t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53</a:t>
                </a:r>
                <a:endParaRPr lang="en-US" sz="1200" b="1" dirty="0">
                  <a:solidFill>
                    <a:srgbClr val="FF0000"/>
                  </a:solidFill>
                  <a:latin typeface="Times New Roman"/>
                </a:endParaRPr>
              </a:p>
            </p:txBody>
          </p:sp>
          <p:sp>
            <p:nvSpPr>
              <p:cNvPr id="2066" name="Rectangle 13"/>
              <p:cNvSpPr>
                <a:spLocks noChangeArrowheads="1"/>
              </p:cNvSpPr>
              <p:nvPr/>
            </p:nvSpPr>
            <p:spPr bwMode="auto">
              <a:xfrm>
                <a:off x="5427641" y="3221523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t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49</a:t>
                </a:r>
                <a:endParaRPr lang="en-US" sz="12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067" name="Rectangle 14"/>
              <p:cNvSpPr>
                <a:spLocks noChangeArrowheads="1"/>
              </p:cNvSpPr>
              <p:nvPr/>
            </p:nvSpPr>
            <p:spPr bwMode="auto">
              <a:xfrm>
                <a:off x="5427643" y="3451042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t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>
                    <a:latin typeface="Times New Roman"/>
                    <a:cs typeface="Times New Roman"/>
                  </a:rPr>
                  <a:t>174</a:t>
                </a:r>
                <a:endParaRPr lang="en-US" sz="1200" dirty="0"/>
              </a:p>
            </p:txBody>
          </p:sp>
          <p:sp>
            <p:nvSpPr>
              <p:cNvPr id="2068" name="Rectangle 15"/>
              <p:cNvSpPr>
                <a:spLocks noChangeArrowheads="1"/>
              </p:cNvSpPr>
              <p:nvPr/>
            </p:nvSpPr>
            <p:spPr bwMode="auto">
              <a:xfrm>
                <a:off x="5427643" y="3680561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t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138</a:t>
                </a:r>
                <a:endParaRPr lang="en-US" sz="12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070" name="Rectangle 17"/>
              <p:cNvSpPr>
                <a:spLocks noChangeArrowheads="1"/>
              </p:cNvSpPr>
              <p:nvPr/>
            </p:nvSpPr>
            <p:spPr bwMode="auto">
              <a:xfrm>
                <a:off x="5427643" y="3894665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2072" name="Rectangle 19"/>
              <p:cNvSpPr>
                <a:spLocks noChangeArrowheads="1"/>
              </p:cNvSpPr>
              <p:nvPr/>
            </p:nvSpPr>
            <p:spPr bwMode="auto">
              <a:xfrm>
                <a:off x="5432410" y="4570739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89" name="Rectangle 17">
                <a:extLst>
                  <a:ext uri="{FF2B5EF4-FFF2-40B4-BE49-F238E27FC236}">
                    <a16:creationId xmlns:a16="http://schemas.microsoft.com/office/drawing/2014/main" id="{107104DF-63F5-4F80-A6B0-1B432C54E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9703" y="4117152"/>
                <a:ext cx="451942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t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10</a:t>
                </a:r>
                <a:endParaRPr lang="en-US" sz="1200" b="1" dirty="0">
                  <a:solidFill>
                    <a:srgbClr val="FF0000"/>
                  </a:solidFill>
                  <a:latin typeface="Times New Roman"/>
                </a:endParaRPr>
              </a:p>
            </p:txBody>
          </p:sp>
          <p:sp>
            <p:nvSpPr>
              <p:cNvPr id="108" name="Rectangle 17">
                <a:extLst>
                  <a:ext uri="{FF2B5EF4-FFF2-40B4-BE49-F238E27FC236}">
                    <a16:creationId xmlns:a16="http://schemas.microsoft.com/office/drawing/2014/main" id="{FC644859-110E-4ED1-933E-C4BD51B12D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9700" y="4346443"/>
                <a:ext cx="452620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t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24</a:t>
                </a:r>
                <a:endParaRPr lang="en-US" sz="1200" b="1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059" name="TextBox 27"/>
            <p:cNvSpPr txBox="1">
              <a:spLocks noChangeArrowheads="1"/>
            </p:cNvSpPr>
            <p:nvPr/>
          </p:nvSpPr>
          <p:spPr bwMode="auto">
            <a:xfrm>
              <a:off x="5763485" y="1746270"/>
              <a:ext cx="364202" cy="3046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spcAft>
                  <a:spcPts val="100"/>
                </a:spcAft>
              </a:pPr>
              <a:r>
                <a:rPr lang="en-US" sz="1400" b="1" dirty="0"/>
                <a:t>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2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3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4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5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6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7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8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9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12</a:t>
              </a:r>
            </a:p>
          </p:txBody>
        </p:sp>
      </p:grpSp>
      <p:sp>
        <p:nvSpPr>
          <p:cNvPr id="32" name="Text Box 3"/>
          <p:cNvSpPr txBox="1">
            <a:spLocks noChangeArrowheads="1"/>
          </p:cNvSpPr>
          <p:nvPr/>
        </p:nvSpPr>
        <p:spPr bwMode="auto">
          <a:xfrm>
            <a:off x="5076634" y="1004052"/>
            <a:ext cx="3715674" cy="13234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buFont typeface="+mj-lt"/>
              <a:buAutoNum type="alphaLcPeriod" startAt="2"/>
              <a:defRPr/>
            </a:pPr>
            <a:r>
              <a:rPr lang="en-US" sz="1600" dirty="0"/>
              <a:t>Bucket hashing of 10 elements (N=10) 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 = (</a:t>
            </a:r>
            <a:r>
              <a:rPr lang="en-US" sz="1600" dirty="0" err="1"/>
              <a:t>p</a:t>
            </a:r>
            <a:r>
              <a:rPr lang="en-US" sz="1600" baseline="-25000" dirty="0" err="1"/>
              <a:t>k</a:t>
            </a:r>
            <a:r>
              <a:rPr lang="en-US" sz="1600" dirty="0"/>
              <a:t>) % N</a:t>
            </a:r>
          </a:p>
          <a:p>
            <a:pPr marL="342900" indent="-342900">
              <a:buFont typeface="+mj-lt"/>
              <a:buAutoNum type="alphaLcPeriod" startAt="2"/>
              <a:defRPr/>
            </a:pPr>
            <a:endParaRPr lang="en-US" sz="1600" b="1" dirty="0"/>
          </a:p>
          <a:p>
            <a:pPr>
              <a:defRPr/>
            </a:pPr>
            <a:endParaRPr lang="en-US" sz="1600" b="1" dirty="0"/>
          </a:p>
          <a:p>
            <a:pPr>
              <a:defRPr/>
            </a:pPr>
            <a:endParaRPr lang="en-US" sz="1600" b="1" dirty="0"/>
          </a:p>
        </p:txBody>
      </p:sp>
      <p:sp>
        <p:nvSpPr>
          <p:cNvPr id="56" name="Rectangle 29"/>
          <p:cNvSpPr>
            <a:spLocks noChangeArrowheads="1"/>
          </p:cNvSpPr>
          <p:nvPr/>
        </p:nvSpPr>
        <p:spPr bwMode="auto">
          <a:xfrm>
            <a:off x="5226902" y="1743523"/>
            <a:ext cx="3084341" cy="2763164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t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600" b="1" dirty="0"/>
              <a:t>Array: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5389336" y="1946528"/>
            <a:ext cx="2252219" cy="2419335"/>
            <a:chOff x="5853253" y="1746270"/>
            <a:chExt cx="690119" cy="2362185"/>
          </a:xfrm>
        </p:grpSpPr>
        <p:grpSp>
          <p:nvGrpSpPr>
            <p:cNvPr id="35" name="Group 2"/>
            <p:cNvGrpSpPr>
              <a:grpSpLocks/>
            </p:cNvGrpSpPr>
            <p:nvPr/>
          </p:nvGrpSpPr>
          <p:grpSpPr bwMode="auto">
            <a:xfrm>
              <a:off x="6088531" y="1753437"/>
              <a:ext cx="454841" cy="2292347"/>
              <a:chOff x="5427641" y="1844409"/>
              <a:chExt cx="455369" cy="2292433"/>
            </a:xfrm>
          </p:grpSpPr>
          <p:sp>
            <p:nvSpPr>
              <p:cNvPr id="37" name="Rectangle 7"/>
              <p:cNvSpPr>
                <a:spLocks noChangeArrowheads="1"/>
              </p:cNvSpPr>
              <p:nvPr/>
            </p:nvSpPr>
            <p:spPr bwMode="auto">
              <a:xfrm>
                <a:off x="5427643" y="1844409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t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>
                    <a:latin typeface="Times New Roman"/>
                    <a:cs typeface="Times New Roman"/>
                  </a:rPr>
                  <a:t>10</a:t>
                </a:r>
                <a:endParaRPr lang="en-US" sz="1200" dirty="0">
                  <a:cs typeface="Times New Roman"/>
                </a:endParaRPr>
              </a:p>
            </p:txBody>
          </p:sp>
          <p:sp>
            <p:nvSpPr>
              <p:cNvPr id="38" name="Rectangle 8"/>
              <p:cNvSpPr>
                <a:spLocks noChangeArrowheads="1"/>
              </p:cNvSpPr>
              <p:nvPr/>
            </p:nvSpPr>
            <p:spPr bwMode="auto">
              <a:xfrm>
                <a:off x="5427646" y="2073928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t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>
                  <a:cs typeface="Times New Roman"/>
                </a:endParaRPr>
              </a:p>
            </p:txBody>
          </p:sp>
          <p:sp>
            <p:nvSpPr>
              <p:cNvPr id="39" name="Rectangle 9"/>
              <p:cNvSpPr>
                <a:spLocks noChangeArrowheads="1"/>
              </p:cNvSpPr>
              <p:nvPr/>
            </p:nvSpPr>
            <p:spPr bwMode="auto">
              <a:xfrm>
                <a:off x="5427643" y="2303447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t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>
                  <a:cs typeface="Times New Roman"/>
                </a:endParaRPr>
              </a:p>
            </p:txBody>
          </p:sp>
          <p:sp>
            <p:nvSpPr>
              <p:cNvPr id="40" name="Rectangle 10"/>
              <p:cNvSpPr>
                <a:spLocks noChangeArrowheads="1"/>
              </p:cNvSpPr>
              <p:nvPr/>
            </p:nvSpPr>
            <p:spPr bwMode="auto">
              <a:xfrm>
                <a:off x="5427643" y="2532966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t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>
                    <a:latin typeface="Times New Roman"/>
                    <a:cs typeface="Times New Roman"/>
                  </a:rPr>
                  <a:t>53  13</a:t>
                </a:r>
                <a:endParaRPr lang="en-US" sz="1200" dirty="0">
                  <a:cs typeface="Times New Roman"/>
                </a:endParaRPr>
              </a:p>
            </p:txBody>
          </p:sp>
          <p:sp>
            <p:nvSpPr>
              <p:cNvPr id="41" name="Rectangle 11"/>
              <p:cNvSpPr>
                <a:spLocks noChangeArrowheads="1"/>
              </p:cNvSpPr>
              <p:nvPr/>
            </p:nvSpPr>
            <p:spPr bwMode="auto">
              <a:xfrm>
                <a:off x="5427643" y="2762485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t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>
                    <a:latin typeface="Times New Roman"/>
                    <a:cs typeface="Times New Roman"/>
                  </a:rPr>
                  <a:t>174 24</a:t>
                </a:r>
                <a:endParaRPr lang="en-US" sz="1200" dirty="0">
                  <a:cs typeface="Times New Roman"/>
                </a:endParaRPr>
              </a:p>
            </p:txBody>
          </p:sp>
          <p:sp>
            <p:nvSpPr>
              <p:cNvPr id="42" name="Rectangle 12"/>
              <p:cNvSpPr>
                <a:spLocks noChangeArrowheads="1"/>
              </p:cNvSpPr>
              <p:nvPr/>
            </p:nvSpPr>
            <p:spPr bwMode="auto">
              <a:xfrm>
                <a:off x="5427643" y="2992004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t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>
                  <a:latin typeface="Times New Roman"/>
                  <a:cs typeface="Times New Roman"/>
                </a:endParaRPr>
              </a:p>
            </p:txBody>
          </p:sp>
          <p:sp>
            <p:nvSpPr>
              <p:cNvPr id="43" name="Rectangle 13"/>
              <p:cNvSpPr>
                <a:spLocks noChangeArrowheads="1"/>
              </p:cNvSpPr>
              <p:nvPr/>
            </p:nvSpPr>
            <p:spPr bwMode="auto">
              <a:xfrm>
                <a:off x="5427641" y="3221523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t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>
                    <a:latin typeface="Times New Roman"/>
                    <a:cs typeface="Times New Roman"/>
                  </a:rPr>
                  <a:t>26</a:t>
                </a:r>
                <a:endParaRPr lang="en-US" sz="1200" dirty="0">
                  <a:cs typeface="Times New Roman"/>
                </a:endParaRPr>
              </a:p>
            </p:txBody>
          </p:sp>
          <p:sp>
            <p:nvSpPr>
              <p:cNvPr id="44" name="Rectangle 14"/>
              <p:cNvSpPr>
                <a:spLocks noChangeArrowheads="1"/>
              </p:cNvSpPr>
              <p:nvPr/>
            </p:nvSpPr>
            <p:spPr bwMode="auto">
              <a:xfrm>
                <a:off x="5427643" y="3451042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t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>
                    <a:latin typeface="Times New Roman"/>
                    <a:cs typeface="Times New Roman"/>
                  </a:rPr>
                  <a:t>27</a:t>
                </a:r>
                <a:endParaRPr lang="en-US" sz="1200" dirty="0">
                  <a:cs typeface="Times New Roman"/>
                </a:endParaRPr>
              </a:p>
            </p:txBody>
          </p:sp>
          <p:sp>
            <p:nvSpPr>
              <p:cNvPr id="45" name="Rectangle 15"/>
              <p:cNvSpPr>
                <a:spLocks noChangeArrowheads="1"/>
              </p:cNvSpPr>
              <p:nvPr/>
            </p:nvSpPr>
            <p:spPr bwMode="auto">
              <a:xfrm>
                <a:off x="5427643" y="3680561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t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>
                    <a:latin typeface="Times New Roman"/>
                    <a:cs typeface="Times New Roman"/>
                  </a:rPr>
                  <a:t>138</a:t>
                </a:r>
                <a:endParaRPr lang="en-US" sz="1200" dirty="0">
                  <a:latin typeface="Times New Roman"/>
                  <a:cs typeface="Times New Roman"/>
                </a:endParaRPr>
              </a:p>
            </p:txBody>
          </p:sp>
          <p:sp>
            <p:nvSpPr>
              <p:cNvPr id="46" name="Rectangle 16"/>
              <p:cNvSpPr>
                <a:spLocks noChangeArrowheads="1"/>
              </p:cNvSpPr>
              <p:nvPr/>
            </p:nvSpPr>
            <p:spPr bwMode="auto">
              <a:xfrm>
                <a:off x="5427643" y="3910080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t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>
                    <a:latin typeface="Times New Roman"/>
                    <a:cs typeface="Times New Roman"/>
                  </a:rPr>
                  <a:t>109 49</a:t>
                </a:r>
                <a:endParaRPr lang="en-US" sz="1200" dirty="0">
                  <a:latin typeface="Times New Roman"/>
                </a:endParaRPr>
              </a:p>
            </p:txBody>
          </p:sp>
        </p:grpSp>
        <p:sp>
          <p:nvSpPr>
            <p:cNvPr id="36" name="TextBox 27"/>
            <p:cNvSpPr txBox="1">
              <a:spLocks noChangeArrowheads="1"/>
            </p:cNvSpPr>
            <p:nvPr/>
          </p:nvSpPr>
          <p:spPr bwMode="auto">
            <a:xfrm>
              <a:off x="5853253" y="1746270"/>
              <a:ext cx="274434" cy="2362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spcAft>
                  <a:spcPts val="100"/>
                </a:spcAft>
              </a:pPr>
              <a:r>
                <a:rPr lang="en-US" sz="1400" b="1" dirty="0"/>
                <a:t>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2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3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4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5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6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7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8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9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6032833-4271-659D-DCBF-7713671A1B5D}"/>
              </a:ext>
            </a:extLst>
          </p:cNvPr>
          <p:cNvSpPr txBox="1"/>
          <p:nvPr/>
        </p:nvSpPr>
        <p:spPr>
          <a:xfrm>
            <a:off x="287345" y="5044025"/>
            <a:ext cx="3496881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latin typeface="Times New Roman"/>
                <a:cs typeface="Times New Roman"/>
              </a:rPr>
              <a:t>27 % 13 = 1</a:t>
            </a:r>
            <a:endParaRPr lang="en-US" sz="1000">
              <a:cs typeface="Times New Roman" panose="02020603050405020304" pitchFamily="18" charset="0"/>
            </a:endParaRPr>
          </a:p>
          <a:p>
            <a:r>
              <a:rPr lang="en-US" sz="1000">
                <a:latin typeface="Times New Roman"/>
                <a:cs typeface="Times New Roman"/>
              </a:rPr>
              <a:t>53 % 13 = 1 + (53/13) = 5</a:t>
            </a:r>
          </a:p>
          <a:p>
            <a:r>
              <a:rPr lang="en-US" sz="1000">
                <a:latin typeface="Times New Roman"/>
                <a:cs typeface="Times New Roman"/>
              </a:rPr>
              <a:t>13 % 13 = 0</a:t>
            </a:r>
          </a:p>
          <a:p>
            <a:r>
              <a:rPr lang="en-US" sz="1000">
                <a:latin typeface="Times New Roman"/>
                <a:cs typeface="Times New Roman"/>
              </a:rPr>
              <a:t>10 % 13 = 10</a:t>
            </a:r>
            <a:endParaRPr lang="en-US" sz="1000" dirty="0">
              <a:latin typeface="Times New Roman"/>
              <a:cs typeface="Times New Roman"/>
            </a:endParaRPr>
          </a:p>
          <a:p>
            <a:r>
              <a:rPr lang="en-US" sz="1000">
                <a:latin typeface="Times New Roman"/>
                <a:cs typeface="Times New Roman"/>
              </a:rPr>
              <a:t>138 % 13 = 8</a:t>
            </a:r>
          </a:p>
          <a:p>
            <a:r>
              <a:rPr lang="en-US" sz="1000">
                <a:latin typeface="Times New Roman"/>
                <a:cs typeface="Times New Roman"/>
              </a:rPr>
              <a:t>109 % 13 = 5 + (109/13) = 13 -&gt; 0 + (109/13) = 8 + (109/13) = 3</a:t>
            </a:r>
          </a:p>
          <a:p>
            <a:r>
              <a:rPr lang="en-US" sz="1000">
                <a:latin typeface="Times New Roman"/>
                <a:cs typeface="Times New Roman"/>
              </a:rPr>
              <a:t>49 % 13 = 10 + (49/13) = 13 -&gt; 0 + (49/13) = 3 + (49/13) = 6</a:t>
            </a:r>
          </a:p>
          <a:p>
            <a:r>
              <a:rPr lang="en-US" sz="1000">
                <a:latin typeface="Times New Roman"/>
                <a:cs typeface="Times New Roman"/>
              </a:rPr>
              <a:t>174 % 13 = 5 + (174/13) = 18 -&gt; 6 + (174/13) = 19 -&gt; 7</a:t>
            </a:r>
            <a:endParaRPr lang="en-US" sz="1000" dirty="0">
              <a:latin typeface="Times New Roman"/>
              <a:cs typeface="Times New Roman"/>
            </a:endParaRPr>
          </a:p>
          <a:p>
            <a:r>
              <a:rPr lang="en-US" sz="1000">
                <a:latin typeface="Times New Roman"/>
                <a:cs typeface="Times New Roman"/>
              </a:rPr>
              <a:t>26 % 13 = 0 + (26/13) = 2</a:t>
            </a:r>
          </a:p>
          <a:p>
            <a:r>
              <a:rPr lang="en-US" sz="1000">
                <a:latin typeface="Times New Roman"/>
                <a:cs typeface="Times New Roman"/>
              </a:rPr>
              <a:t>24 % 13 = 11</a:t>
            </a:r>
            <a:endParaRPr lang="en-US" sz="1000" dirty="0"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5CA0E8-47B3-8565-FB86-9C24F7D93135}"/>
              </a:ext>
            </a:extLst>
          </p:cNvPr>
          <p:cNvSpPr txBox="1"/>
          <p:nvPr/>
        </p:nvSpPr>
        <p:spPr>
          <a:xfrm>
            <a:off x="4821244" y="4863049"/>
            <a:ext cx="3496881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latin typeface="Times New Roman"/>
                <a:cs typeface="Times New Roman"/>
              </a:rPr>
              <a:t>27 % 10 = 7</a:t>
            </a:r>
            <a:endParaRPr lang="en-US">
              <a:cs typeface="Times New Roman" panose="02020603050405020304" pitchFamily="18" charset="0"/>
            </a:endParaRPr>
          </a:p>
          <a:p>
            <a:r>
              <a:rPr lang="en-US" sz="1000">
                <a:latin typeface="Times New Roman"/>
                <a:cs typeface="Times New Roman"/>
              </a:rPr>
              <a:t>53 % 10 = 3</a:t>
            </a:r>
            <a:endParaRPr lang="en-US" sz="1000" dirty="0">
              <a:cs typeface="Times New Roman"/>
            </a:endParaRPr>
          </a:p>
          <a:p>
            <a:r>
              <a:rPr lang="en-US" sz="1000">
                <a:latin typeface="Times New Roman"/>
                <a:cs typeface="Times New Roman"/>
              </a:rPr>
              <a:t>13 % 10 = 3</a:t>
            </a:r>
            <a:endParaRPr lang="en-US" sz="1000" dirty="0">
              <a:cs typeface="Times New Roman"/>
            </a:endParaRPr>
          </a:p>
          <a:p>
            <a:r>
              <a:rPr lang="en-US" sz="1000">
                <a:latin typeface="Times New Roman"/>
                <a:cs typeface="Times New Roman"/>
              </a:rPr>
              <a:t>10 % 10 = 0</a:t>
            </a:r>
          </a:p>
          <a:p>
            <a:r>
              <a:rPr lang="en-US" sz="1000">
                <a:latin typeface="Times New Roman"/>
                <a:cs typeface="Times New Roman"/>
              </a:rPr>
              <a:t>138 % 10 = 8</a:t>
            </a:r>
            <a:endParaRPr lang="en-US" sz="1000" dirty="0">
              <a:latin typeface="Times New Roman"/>
              <a:cs typeface="Times New Roman"/>
            </a:endParaRPr>
          </a:p>
          <a:p>
            <a:r>
              <a:rPr lang="en-US" sz="1000">
                <a:latin typeface="Times New Roman"/>
                <a:cs typeface="Times New Roman"/>
              </a:rPr>
              <a:t>109 % 10 = 9</a:t>
            </a:r>
          </a:p>
          <a:p>
            <a:r>
              <a:rPr lang="en-US" sz="1000">
                <a:latin typeface="Times New Roman"/>
                <a:cs typeface="Times New Roman"/>
              </a:rPr>
              <a:t>49 % 10 = 9</a:t>
            </a:r>
          </a:p>
          <a:p>
            <a:r>
              <a:rPr lang="en-US" sz="1000">
                <a:latin typeface="Times New Roman"/>
                <a:cs typeface="Times New Roman"/>
              </a:rPr>
              <a:t>174 % 10 = 4</a:t>
            </a:r>
            <a:endParaRPr lang="en-US" sz="1000" dirty="0">
              <a:latin typeface="Times New Roman"/>
              <a:cs typeface="Times New Roman"/>
            </a:endParaRPr>
          </a:p>
          <a:p>
            <a:r>
              <a:rPr lang="en-US" sz="1000">
                <a:latin typeface="Times New Roman"/>
                <a:cs typeface="Times New Roman"/>
              </a:rPr>
              <a:t>26 % 10 = 6</a:t>
            </a:r>
          </a:p>
          <a:p>
            <a:r>
              <a:rPr lang="en-US" sz="1000">
                <a:latin typeface="Times New Roman"/>
                <a:cs typeface="Times New Roman"/>
              </a:rPr>
              <a:t>24 % 10 = 4</a:t>
            </a:r>
            <a:endParaRPr lang="en-US" sz="1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1752600" y="1600200"/>
            <a:ext cx="4343400" cy="419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sz="2400"/>
          </a:p>
        </p:txBody>
      </p:sp>
      <p:sp>
        <p:nvSpPr>
          <p:cNvPr id="4099" name="Line 3"/>
          <p:cNvSpPr>
            <a:spLocks noChangeShapeType="1"/>
          </p:cNvSpPr>
          <p:nvPr/>
        </p:nvSpPr>
        <p:spPr bwMode="auto">
          <a:xfrm>
            <a:off x="4648200" y="16002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0" name="Line 4"/>
          <p:cNvSpPr>
            <a:spLocks noChangeShapeType="1"/>
          </p:cNvSpPr>
          <p:nvPr/>
        </p:nvSpPr>
        <p:spPr bwMode="auto">
          <a:xfrm>
            <a:off x="3200400" y="16002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1" name="Line 5"/>
          <p:cNvSpPr>
            <a:spLocks noChangeShapeType="1"/>
          </p:cNvSpPr>
          <p:nvPr/>
        </p:nvSpPr>
        <p:spPr bwMode="auto">
          <a:xfrm>
            <a:off x="6096000" y="1600200"/>
            <a:ext cx="0" cy="3581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2" name="Line 6"/>
          <p:cNvSpPr>
            <a:spLocks noChangeShapeType="1"/>
          </p:cNvSpPr>
          <p:nvPr/>
        </p:nvSpPr>
        <p:spPr bwMode="auto">
          <a:xfrm>
            <a:off x="1752600" y="27432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40" tIns="45720" rIns="91440" bIns="45720" anchor="ctr"/>
          <a:lstStyle/>
          <a:p>
            <a:endParaRPr lang="en-US"/>
          </a:p>
        </p:txBody>
      </p:sp>
      <p:sp>
        <p:nvSpPr>
          <p:cNvPr id="4103" name="Text Box 7"/>
          <p:cNvSpPr txBox="1">
            <a:spLocks noChangeArrowheads="1"/>
          </p:cNvSpPr>
          <p:nvPr/>
        </p:nvSpPr>
        <p:spPr bwMode="auto">
          <a:xfrm>
            <a:off x="3200400" y="1676400"/>
            <a:ext cx="1600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Linear array -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(Length of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Collision Path +1)</a:t>
            </a:r>
          </a:p>
        </p:txBody>
      </p:sp>
      <p:sp>
        <p:nvSpPr>
          <p:cNvPr id="4104" name="Text Box 8"/>
          <p:cNvSpPr txBox="1">
            <a:spLocks noChangeArrowheads="1"/>
          </p:cNvSpPr>
          <p:nvPr/>
        </p:nvSpPr>
        <p:spPr bwMode="auto">
          <a:xfrm>
            <a:off x="4724400" y="1676400"/>
            <a:ext cx="1379538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Buckets -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(# of elements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in  linked list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compared)</a:t>
            </a:r>
          </a:p>
        </p:txBody>
      </p:sp>
      <p:sp>
        <p:nvSpPr>
          <p:cNvPr id="4105" name="Text Box 10"/>
          <p:cNvSpPr txBox="1">
            <a:spLocks noChangeArrowheads="1"/>
          </p:cNvSpPr>
          <p:nvPr/>
        </p:nvSpPr>
        <p:spPr bwMode="auto">
          <a:xfrm>
            <a:off x="2057400" y="1676400"/>
            <a:ext cx="5254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Key</a:t>
            </a:r>
          </a:p>
        </p:txBody>
      </p:sp>
      <p:sp>
        <p:nvSpPr>
          <p:cNvPr id="4106" name="Text Box 11"/>
          <p:cNvSpPr txBox="1">
            <a:spLocks noChangeArrowheads="1"/>
          </p:cNvSpPr>
          <p:nvPr/>
        </p:nvSpPr>
        <p:spPr bwMode="auto">
          <a:xfrm>
            <a:off x="1828800" y="1219200"/>
            <a:ext cx="41179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Number of comparisons to retrieve this element</a:t>
            </a:r>
          </a:p>
        </p:txBody>
      </p:sp>
      <p:sp>
        <p:nvSpPr>
          <p:cNvPr id="4107" name="Line 12"/>
          <p:cNvSpPr>
            <a:spLocks noChangeShapeType="1"/>
          </p:cNvSpPr>
          <p:nvPr/>
        </p:nvSpPr>
        <p:spPr bwMode="auto">
          <a:xfrm>
            <a:off x="1752600" y="41910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8" name="Line 13"/>
          <p:cNvSpPr>
            <a:spLocks noChangeShapeType="1"/>
          </p:cNvSpPr>
          <p:nvPr/>
        </p:nvSpPr>
        <p:spPr bwMode="auto">
          <a:xfrm>
            <a:off x="1752600" y="32004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9" name="Line 14"/>
          <p:cNvSpPr>
            <a:spLocks noChangeShapeType="1"/>
          </p:cNvSpPr>
          <p:nvPr/>
        </p:nvSpPr>
        <p:spPr bwMode="auto">
          <a:xfrm>
            <a:off x="1752600" y="36576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0" name="Line 15"/>
          <p:cNvSpPr>
            <a:spLocks noChangeShapeType="1"/>
          </p:cNvSpPr>
          <p:nvPr/>
        </p:nvSpPr>
        <p:spPr bwMode="auto">
          <a:xfrm>
            <a:off x="1752600" y="51816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1" name="Line 16"/>
          <p:cNvSpPr>
            <a:spLocks noChangeShapeType="1"/>
          </p:cNvSpPr>
          <p:nvPr/>
        </p:nvSpPr>
        <p:spPr bwMode="auto">
          <a:xfrm>
            <a:off x="1752600" y="46482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2" name="Text Box 17"/>
          <p:cNvSpPr txBox="1">
            <a:spLocks noChangeArrowheads="1"/>
          </p:cNvSpPr>
          <p:nvPr/>
        </p:nvSpPr>
        <p:spPr bwMode="auto">
          <a:xfrm>
            <a:off x="2041525" y="2805113"/>
            <a:ext cx="20313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53		</a:t>
            </a:r>
          </a:p>
        </p:txBody>
      </p:sp>
      <p:sp>
        <p:nvSpPr>
          <p:cNvPr id="4113" name="Text Box 18"/>
          <p:cNvSpPr txBox="1">
            <a:spLocks noChangeArrowheads="1"/>
          </p:cNvSpPr>
          <p:nvPr/>
        </p:nvSpPr>
        <p:spPr bwMode="auto">
          <a:xfrm>
            <a:off x="2041525" y="3262313"/>
            <a:ext cx="49244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138</a:t>
            </a:r>
          </a:p>
        </p:txBody>
      </p:sp>
      <p:sp>
        <p:nvSpPr>
          <p:cNvPr id="4114" name="Text Box 19"/>
          <p:cNvSpPr txBox="1">
            <a:spLocks noChangeArrowheads="1"/>
          </p:cNvSpPr>
          <p:nvPr/>
        </p:nvSpPr>
        <p:spPr bwMode="auto">
          <a:xfrm>
            <a:off x="2041072" y="3830638"/>
            <a:ext cx="110799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109	</a:t>
            </a:r>
          </a:p>
        </p:txBody>
      </p:sp>
      <p:sp>
        <p:nvSpPr>
          <p:cNvPr id="4115" name="Text Box 20"/>
          <p:cNvSpPr txBox="1">
            <a:spLocks noChangeArrowheads="1"/>
          </p:cNvSpPr>
          <p:nvPr/>
        </p:nvSpPr>
        <p:spPr bwMode="auto">
          <a:xfrm>
            <a:off x="2057400" y="4287838"/>
            <a:ext cx="20313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49                               </a:t>
            </a:r>
          </a:p>
        </p:txBody>
      </p:sp>
      <p:sp>
        <p:nvSpPr>
          <p:cNvPr id="4116" name="Text Box 21"/>
          <p:cNvSpPr txBox="1">
            <a:spLocks noChangeArrowheads="1"/>
          </p:cNvSpPr>
          <p:nvPr/>
        </p:nvSpPr>
        <p:spPr bwMode="auto">
          <a:xfrm>
            <a:off x="2057400" y="4745038"/>
            <a:ext cx="49244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174</a:t>
            </a:r>
          </a:p>
        </p:txBody>
      </p:sp>
      <p:sp>
        <p:nvSpPr>
          <p:cNvPr id="4117" name="Text Box 22"/>
          <p:cNvSpPr txBox="1">
            <a:spLocks noChangeArrowheads="1"/>
          </p:cNvSpPr>
          <p:nvPr/>
        </p:nvSpPr>
        <p:spPr bwMode="auto">
          <a:xfrm>
            <a:off x="2075316" y="5287055"/>
            <a:ext cx="20313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26		</a:t>
            </a:r>
          </a:p>
        </p:txBody>
      </p:sp>
      <p:sp>
        <p:nvSpPr>
          <p:cNvPr id="4118" name="Text Box 23"/>
          <p:cNvSpPr txBox="1">
            <a:spLocks noChangeArrowheads="1"/>
          </p:cNvSpPr>
          <p:nvPr/>
        </p:nvSpPr>
        <p:spPr bwMode="auto">
          <a:xfrm>
            <a:off x="838200" y="457200"/>
            <a:ext cx="33194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2.  Fill in the table based on exercise 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CEDB6D-3562-B5AC-6EB0-552E035EBC85}"/>
              </a:ext>
            </a:extLst>
          </p:cNvPr>
          <p:cNvSpPr txBox="1"/>
          <p:nvPr/>
        </p:nvSpPr>
        <p:spPr>
          <a:xfrm>
            <a:off x="3765521" y="2737338"/>
            <a:ext cx="32066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Times New Roman"/>
              </a:rPr>
              <a:t>2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092147-5668-7A5A-9C5B-AF2B694D88F4}"/>
              </a:ext>
            </a:extLst>
          </p:cNvPr>
          <p:cNvSpPr txBox="1"/>
          <p:nvPr/>
        </p:nvSpPr>
        <p:spPr>
          <a:xfrm>
            <a:off x="3765521" y="3224320"/>
            <a:ext cx="31031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Times New Roman"/>
              </a:rPr>
              <a:t>1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599567-C62F-14C3-EE50-711530FC29A0}"/>
              </a:ext>
            </a:extLst>
          </p:cNvPr>
          <p:cNvSpPr txBox="1"/>
          <p:nvPr/>
        </p:nvSpPr>
        <p:spPr>
          <a:xfrm>
            <a:off x="3775046" y="3700570"/>
            <a:ext cx="31031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Times New Roman"/>
              </a:rPr>
              <a:t>4</a:t>
            </a:r>
            <a:endParaRPr lang="en-US" dirty="0"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A4F713-8494-2BB6-26A8-24BDB73B1632}"/>
              </a:ext>
            </a:extLst>
          </p:cNvPr>
          <p:cNvSpPr txBox="1"/>
          <p:nvPr/>
        </p:nvSpPr>
        <p:spPr>
          <a:xfrm>
            <a:off x="3784571" y="4253020"/>
            <a:ext cx="31031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Times New Roman"/>
              </a:rPr>
              <a:t>4</a:t>
            </a:r>
            <a:endParaRPr lang="en-US" dirty="0"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F533C1-4D6E-3A53-61DE-F31CC92BC398}"/>
              </a:ext>
            </a:extLst>
          </p:cNvPr>
          <p:cNvSpPr txBox="1"/>
          <p:nvPr/>
        </p:nvSpPr>
        <p:spPr>
          <a:xfrm>
            <a:off x="3775046" y="4689963"/>
            <a:ext cx="32066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Times New Roman"/>
                <a:cs typeface="Times New Roman"/>
              </a:rPr>
              <a:t>3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7914FB-E704-111F-2C02-00A2D3D86D22}"/>
              </a:ext>
            </a:extLst>
          </p:cNvPr>
          <p:cNvSpPr txBox="1"/>
          <p:nvPr/>
        </p:nvSpPr>
        <p:spPr>
          <a:xfrm>
            <a:off x="3765521" y="5309088"/>
            <a:ext cx="32066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Times New Roman"/>
              </a:rPr>
              <a:t>2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9E7B0E-0961-05F6-7A25-EAA25C6FD14F}"/>
              </a:ext>
            </a:extLst>
          </p:cNvPr>
          <p:cNvSpPr txBox="1"/>
          <p:nvPr/>
        </p:nvSpPr>
        <p:spPr>
          <a:xfrm>
            <a:off x="5251421" y="2756388"/>
            <a:ext cx="32066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Times New Roman"/>
              </a:rPr>
              <a:t>1</a:t>
            </a:r>
            <a:endParaRPr lang="en-US" dirty="0"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BE4F57-4C73-17D4-2A4D-6E4352DDAEBD}"/>
              </a:ext>
            </a:extLst>
          </p:cNvPr>
          <p:cNvSpPr txBox="1"/>
          <p:nvPr/>
        </p:nvSpPr>
        <p:spPr>
          <a:xfrm>
            <a:off x="5251421" y="3242163"/>
            <a:ext cx="32066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Times New Roman"/>
              </a:rPr>
              <a:t>1</a:t>
            </a:r>
            <a:endParaRPr lang="en-US" dirty="0"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6E87EB-B948-5B08-912D-F9086F8780EC}"/>
              </a:ext>
            </a:extLst>
          </p:cNvPr>
          <p:cNvSpPr txBox="1"/>
          <p:nvPr/>
        </p:nvSpPr>
        <p:spPr>
          <a:xfrm>
            <a:off x="5251421" y="3661263"/>
            <a:ext cx="32066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Times New Roman"/>
                <a:cs typeface="Times New Roman"/>
              </a:rPr>
              <a:t>1</a:t>
            </a:r>
            <a:endParaRPr lang="en-US" dirty="0"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1D1F9F-383A-BC01-CF90-63F13ABB1E4B}"/>
              </a:ext>
            </a:extLst>
          </p:cNvPr>
          <p:cNvSpPr txBox="1"/>
          <p:nvPr/>
        </p:nvSpPr>
        <p:spPr>
          <a:xfrm>
            <a:off x="5251421" y="4166088"/>
            <a:ext cx="32066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Times New Roman"/>
                <a:cs typeface="Times New Roman"/>
              </a:rPr>
              <a:t>2</a:t>
            </a:r>
            <a:endParaRPr lang="en-US" dirty="0"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331DAF-92B0-1D45-4B2B-7236F27DEFCD}"/>
              </a:ext>
            </a:extLst>
          </p:cNvPr>
          <p:cNvSpPr txBox="1"/>
          <p:nvPr/>
        </p:nvSpPr>
        <p:spPr>
          <a:xfrm>
            <a:off x="5251421" y="5290038"/>
            <a:ext cx="32066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Times New Roman"/>
              </a:rPr>
              <a:t>1</a:t>
            </a:r>
            <a:endParaRPr lang="en-US" dirty="0"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391405-4F68-5FAB-C532-14D9EDD269B0}"/>
              </a:ext>
            </a:extLst>
          </p:cNvPr>
          <p:cNvSpPr txBox="1"/>
          <p:nvPr/>
        </p:nvSpPr>
        <p:spPr>
          <a:xfrm>
            <a:off x="5251421" y="4680438"/>
            <a:ext cx="32066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Times New Roman"/>
                <a:cs typeface="Times New Roman"/>
              </a:rPr>
              <a:t>1</a:t>
            </a:r>
            <a:endParaRPr lang="en-US" dirty="0"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716</TotalTime>
  <Words>216</Words>
  <Application>Microsoft Office PowerPoint</Application>
  <PresentationFormat>On-screen Show (4:3)</PresentationFormat>
  <Paragraphs>62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Default Design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Joe Wisniewski</dc:creator>
  <cp:lastModifiedBy>Rob Alexander</cp:lastModifiedBy>
  <cp:revision>177</cp:revision>
  <cp:lastPrinted>2015-10-07T21:36:22Z</cp:lastPrinted>
  <dcterms:created xsi:type="dcterms:W3CDTF">2003-12-08T11:02:30Z</dcterms:created>
  <dcterms:modified xsi:type="dcterms:W3CDTF">2026-03-16T02:04:06Z</dcterms:modified>
</cp:coreProperties>
</file>