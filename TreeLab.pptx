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1" autoAdjust="0"/>
    <p:restoredTop sz="94660"/>
  </p:normalViewPr>
  <p:slideViewPr>
    <p:cSldViewPr>
      <p:cViewPr varScale="1">
        <p:scale>
          <a:sx n="82" d="100"/>
          <a:sy n="82" d="100"/>
        </p:scale>
        <p:origin x="155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7E776-1C4A-486B-BD44-153A34EB999D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A6423-A992-4208-A6F8-860E66E73B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6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4406D-F2D6-4426-AB36-8C8ABB7F88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4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C374D-B78D-40C7-9BB3-DB3EFD1B45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A23CA-DC28-4AA5-BD30-0A802A1706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5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CC221-D8A4-440F-9286-353A844609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8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461BA-BDCF-4196-8CBD-48FA34A40C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72448-ED4F-409C-AE95-E374BE1080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7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738A7-F9C8-47D7-ABDA-2855538909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1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F8787-F74C-4E0C-BBC2-9B59AAD6DE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1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F5CF22-39D4-4286-A3B3-B5BDF6287D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4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2FD04-567F-4EB8-B31A-9862C64CA2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9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1F815-027C-440F-ACFD-B4B09B0957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2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947C5C0-65E3-45CE-B4E9-559B800291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26971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1.  Given the following binary tree:</a:t>
            </a: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822325" y="4227513"/>
            <a:ext cx="4839786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200" dirty="0">
                <a:latin typeface="Times New Roman" pitchFamily="18" charset="0"/>
              </a:rPr>
              <a:t>(a)  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16 34 35 38 41 39 44 45 65 63 55 64 72</a:t>
            </a:r>
          </a:p>
          <a:p>
            <a:r>
              <a:rPr lang="en-US" sz="1200" dirty="0">
                <a:latin typeface="Times New Roman" pitchFamily="18" charset="0"/>
              </a:rPr>
              <a:t>	</a:t>
            </a:r>
          </a:p>
          <a:p>
            <a:r>
              <a:rPr lang="en-US" sz="1200" dirty="0">
                <a:latin typeface="Times New Roman" pitchFamily="18" charset="0"/>
              </a:rPr>
              <a:t>(b)  What is the preorder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45 38 34 16 35 41 39 44 65 63 72 55 64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(c)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16 35 39 44 34 41 38 55 64 63 72 65 45</a:t>
            </a:r>
          </a:p>
          <a:p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What is the height of the tree?   What nodes are on level 2?</a:t>
            </a:r>
          </a:p>
          <a:p>
            <a:r>
              <a:rPr lang="en-US" sz="1200" dirty="0">
                <a:latin typeface="Times New Roman" pitchFamily="18" charset="0"/>
              </a:rPr>
              <a:t>4 Levels. 38 and 65 are on level 2	 		 </a:t>
            </a:r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1447800" y="1016000"/>
            <a:ext cx="3611473" cy="1784195"/>
            <a:chOff x="912" y="624"/>
            <a:chExt cx="2904" cy="1536"/>
          </a:xfrm>
        </p:grpSpPr>
        <p:sp>
          <p:nvSpPr>
            <p:cNvPr id="2053" name="Oval 5"/>
            <p:cNvSpPr>
              <a:spLocks noChangeArrowheads="1"/>
            </p:cNvSpPr>
            <p:nvPr/>
          </p:nvSpPr>
          <p:spPr bwMode="auto">
            <a:xfrm>
              <a:off x="2400" y="62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45</a:t>
              </a:r>
            </a:p>
          </p:txBody>
        </p:sp>
        <p:sp>
          <p:nvSpPr>
            <p:cNvPr id="2054" name="Oval 6"/>
            <p:cNvSpPr>
              <a:spLocks noChangeArrowheads="1"/>
            </p:cNvSpPr>
            <p:nvPr/>
          </p:nvSpPr>
          <p:spPr bwMode="auto">
            <a:xfrm>
              <a:off x="1791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38</a:t>
              </a:r>
            </a:p>
          </p:txBody>
        </p:sp>
        <p:sp>
          <p:nvSpPr>
            <p:cNvPr id="2055" name="Oval 7"/>
            <p:cNvSpPr>
              <a:spLocks noChangeArrowheads="1"/>
            </p:cNvSpPr>
            <p:nvPr/>
          </p:nvSpPr>
          <p:spPr bwMode="auto">
            <a:xfrm>
              <a:off x="3309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65</a:t>
              </a:r>
            </a:p>
          </p:txBody>
        </p:sp>
        <p:sp>
          <p:nvSpPr>
            <p:cNvPr id="2057" name="Oval 9"/>
            <p:cNvSpPr>
              <a:spLocks noChangeArrowheads="1"/>
            </p:cNvSpPr>
            <p:nvPr/>
          </p:nvSpPr>
          <p:spPr bwMode="auto">
            <a:xfrm>
              <a:off x="306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63</a:t>
              </a:r>
            </a:p>
          </p:txBody>
        </p:sp>
        <p:sp>
          <p:nvSpPr>
            <p:cNvPr id="2058" name="Oval 10"/>
            <p:cNvSpPr>
              <a:spLocks noChangeArrowheads="1"/>
            </p:cNvSpPr>
            <p:nvPr/>
          </p:nvSpPr>
          <p:spPr bwMode="auto">
            <a:xfrm>
              <a:off x="130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34</a:t>
              </a:r>
            </a:p>
          </p:txBody>
        </p:sp>
        <p:sp>
          <p:nvSpPr>
            <p:cNvPr id="2059" name="Oval 11"/>
            <p:cNvSpPr>
              <a:spLocks noChangeArrowheads="1"/>
            </p:cNvSpPr>
            <p:nvPr/>
          </p:nvSpPr>
          <p:spPr bwMode="auto">
            <a:xfrm>
              <a:off x="1549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35</a:t>
              </a:r>
            </a:p>
          </p:txBody>
        </p:sp>
        <p:sp>
          <p:nvSpPr>
            <p:cNvPr id="2060" name="Oval 12"/>
            <p:cNvSpPr>
              <a:spLocks noChangeArrowheads="1"/>
            </p:cNvSpPr>
            <p:nvPr/>
          </p:nvSpPr>
          <p:spPr bwMode="auto">
            <a:xfrm>
              <a:off x="973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16</a:t>
              </a:r>
            </a:p>
          </p:txBody>
        </p:sp>
        <p:sp>
          <p:nvSpPr>
            <p:cNvPr id="2061" name="Oval 13"/>
            <p:cNvSpPr>
              <a:spLocks noChangeArrowheads="1"/>
            </p:cNvSpPr>
            <p:nvPr/>
          </p:nvSpPr>
          <p:spPr bwMode="auto">
            <a:xfrm>
              <a:off x="195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2062" name="Oval 14"/>
            <p:cNvSpPr>
              <a:spLocks noChangeArrowheads="1"/>
            </p:cNvSpPr>
            <p:nvPr/>
          </p:nvSpPr>
          <p:spPr bwMode="auto">
            <a:xfrm>
              <a:off x="2137" y="1455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41</a:t>
              </a:r>
            </a:p>
          </p:txBody>
        </p:sp>
        <p:sp>
          <p:nvSpPr>
            <p:cNvPr id="2063" name="Oval 15"/>
            <p:cNvSpPr>
              <a:spLocks noChangeArrowheads="1"/>
            </p:cNvSpPr>
            <p:nvPr/>
          </p:nvSpPr>
          <p:spPr bwMode="auto">
            <a:xfrm>
              <a:off x="3576" y="1439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72</a:t>
              </a:r>
            </a:p>
          </p:txBody>
        </p:sp>
        <p:sp>
          <p:nvSpPr>
            <p:cNvPr id="2064" name="Oval 16"/>
            <p:cNvSpPr>
              <a:spLocks noChangeArrowheads="1"/>
            </p:cNvSpPr>
            <p:nvPr/>
          </p:nvSpPr>
          <p:spPr bwMode="auto">
            <a:xfrm>
              <a:off x="324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64</a:t>
              </a:r>
            </a:p>
          </p:txBody>
        </p:sp>
        <p:sp>
          <p:nvSpPr>
            <p:cNvPr id="2066" name="Line 18"/>
            <p:cNvSpPr>
              <a:spLocks noChangeShapeType="1"/>
            </p:cNvSpPr>
            <p:nvPr/>
          </p:nvSpPr>
          <p:spPr bwMode="auto">
            <a:xfrm flipH="1">
              <a:off x="2015" y="816"/>
              <a:ext cx="385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7" name="Line 19"/>
            <p:cNvSpPr>
              <a:spLocks noChangeShapeType="1"/>
            </p:cNvSpPr>
            <p:nvPr/>
          </p:nvSpPr>
          <p:spPr bwMode="auto">
            <a:xfrm>
              <a:off x="2592" y="816"/>
              <a:ext cx="71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" name="Line 20"/>
            <p:cNvSpPr>
              <a:spLocks noChangeShapeType="1"/>
            </p:cNvSpPr>
            <p:nvPr/>
          </p:nvSpPr>
          <p:spPr bwMode="auto">
            <a:xfrm flipH="1">
              <a:off x="1525" y="1152"/>
              <a:ext cx="266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" name="Line 22"/>
            <p:cNvSpPr>
              <a:spLocks noChangeShapeType="1"/>
            </p:cNvSpPr>
            <p:nvPr/>
          </p:nvSpPr>
          <p:spPr bwMode="auto">
            <a:xfrm flipH="1">
              <a:off x="3213" y="115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" name="Line 23"/>
            <p:cNvSpPr>
              <a:spLocks noChangeShapeType="1"/>
            </p:cNvSpPr>
            <p:nvPr/>
          </p:nvSpPr>
          <p:spPr bwMode="auto">
            <a:xfrm flipH="1">
              <a:off x="1069" y="163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>
              <a:off x="1501" y="163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1954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 flipH="1">
              <a:off x="2076" y="1717"/>
              <a:ext cx="123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>
              <a:off x="3490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>
              <a:off x="3284" y="1652"/>
              <a:ext cx="14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" name="Rectangle 30"/>
            <p:cNvSpPr>
              <a:spLocks noChangeArrowheads="1"/>
            </p:cNvSpPr>
            <p:nvPr/>
          </p:nvSpPr>
          <p:spPr bwMode="auto">
            <a:xfrm>
              <a:off x="1200" y="624"/>
              <a:ext cx="19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" name="Text Box 31"/>
            <p:cNvSpPr txBox="1">
              <a:spLocks noChangeArrowheads="1"/>
            </p:cNvSpPr>
            <p:nvPr/>
          </p:nvSpPr>
          <p:spPr bwMode="auto">
            <a:xfrm>
              <a:off x="912" y="624"/>
              <a:ext cx="363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 flipV="1">
              <a:off x="1296" y="720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12"/>
            <p:cNvSpPr>
              <a:spLocks noChangeArrowheads="1"/>
            </p:cNvSpPr>
            <p:nvPr/>
          </p:nvSpPr>
          <p:spPr bwMode="auto">
            <a:xfrm>
              <a:off x="286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55</a:t>
              </a:r>
            </a:p>
          </p:txBody>
        </p:sp>
        <p:sp>
          <p:nvSpPr>
            <p:cNvPr id="34" name="Line 23"/>
            <p:cNvSpPr>
              <a:spLocks noChangeShapeType="1"/>
            </p:cNvSpPr>
            <p:nvPr/>
          </p:nvSpPr>
          <p:spPr bwMode="auto">
            <a:xfrm flipH="1">
              <a:off x="3039" y="1652"/>
              <a:ext cx="123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26">
              <a:extLst>
                <a:ext uri="{FF2B5EF4-FFF2-40B4-BE49-F238E27FC236}">
                  <a16:creationId xmlns:a16="http://schemas.microsoft.com/office/drawing/2014/main" id="{E1BE0D65-EAAC-4ED0-A123-4E7831D0C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1" y="1652"/>
              <a:ext cx="184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13">
              <a:extLst>
                <a:ext uri="{FF2B5EF4-FFF2-40B4-BE49-F238E27FC236}">
                  <a16:creationId xmlns:a16="http://schemas.microsoft.com/office/drawing/2014/main" id="{36C53DFB-EFFD-4DD4-A091-A9073B049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3503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2.  Given the following binary expression tree: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914400" y="3810000"/>
            <a:ext cx="3602268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Tx/>
              <a:buAutoNum type="alphaLcParenBoth"/>
            </a:pPr>
            <a:r>
              <a:rPr lang="en-US" sz="1200" dirty="0">
                <a:latin typeface="Times New Roman" pitchFamily="18" charset="0"/>
              </a:rPr>
              <a:t>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48 – 7 % 2 / 24 * 18 – 5 * 2 + 12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(b)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48 7 2 % - 24 / 18 5 2 * - 12 + *</a:t>
            </a:r>
          </a:p>
          <a:p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r>
              <a:rPr lang="en-US" sz="1200" dirty="0">
                <a:latin typeface="Times New Roman" pitchFamily="18" charset="0"/>
              </a:rPr>
              <a:t>What does it evaluate to if using integer division?</a:t>
            </a:r>
          </a:p>
          <a:p>
            <a:pPr marL="0" indent="0"/>
            <a:r>
              <a:rPr lang="en-US" sz="1200" dirty="0">
                <a:latin typeface="Times New Roman" pitchFamily="18" charset="0"/>
              </a:rPr>
              <a:t>50</a:t>
            </a:r>
          </a:p>
          <a:p>
            <a:pPr marL="0" indent="0"/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   What does it evaluate to if using float division?</a:t>
            </a:r>
          </a:p>
          <a:p>
            <a:pPr marL="0" indent="0"/>
            <a:r>
              <a:rPr lang="en-US" sz="1200" dirty="0">
                <a:latin typeface="Times New Roman" pitchFamily="18" charset="0"/>
              </a:rPr>
              <a:t>49.25</a:t>
            </a:r>
          </a:p>
          <a:p>
            <a:pPr marL="0" indent="0"/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endParaRPr lang="en-US" sz="1200" dirty="0">
              <a:latin typeface="Times New Roman" pitchFamily="18" charset="0"/>
            </a:endParaRPr>
          </a:p>
        </p:txBody>
      </p:sp>
      <p:grpSp>
        <p:nvGrpSpPr>
          <p:cNvPr id="3076" name="Group 37"/>
          <p:cNvGrpSpPr>
            <a:grpSpLocks/>
          </p:cNvGrpSpPr>
          <p:nvPr/>
        </p:nvGrpSpPr>
        <p:grpSpPr bwMode="auto">
          <a:xfrm>
            <a:off x="1447800" y="1143000"/>
            <a:ext cx="3276600" cy="2286000"/>
            <a:chOff x="912" y="640"/>
            <a:chExt cx="2064" cy="1440"/>
          </a:xfrm>
        </p:grpSpPr>
        <p:sp>
          <p:nvSpPr>
            <p:cNvPr id="3077" name="Oval 5"/>
            <p:cNvSpPr>
              <a:spLocks noChangeArrowheads="1"/>
            </p:cNvSpPr>
            <p:nvPr/>
          </p:nvSpPr>
          <p:spPr bwMode="auto">
            <a:xfrm>
              <a:off x="2075" y="64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78" name="Oval 6"/>
            <p:cNvSpPr>
              <a:spLocks noChangeArrowheads="1"/>
            </p:cNvSpPr>
            <p:nvPr/>
          </p:nvSpPr>
          <p:spPr bwMode="auto">
            <a:xfrm>
              <a:off x="1700" y="886"/>
              <a:ext cx="188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/</a:t>
              </a:r>
            </a:p>
          </p:txBody>
        </p:sp>
        <p:sp>
          <p:nvSpPr>
            <p:cNvPr id="3079" name="Oval 7"/>
            <p:cNvSpPr>
              <a:spLocks noChangeArrowheads="1"/>
            </p:cNvSpPr>
            <p:nvPr/>
          </p:nvSpPr>
          <p:spPr bwMode="auto">
            <a:xfrm>
              <a:off x="2451" y="886"/>
              <a:ext cx="187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80" name="Oval 8"/>
            <p:cNvSpPr>
              <a:spLocks noChangeArrowheads="1"/>
            </p:cNvSpPr>
            <p:nvPr/>
          </p:nvSpPr>
          <p:spPr bwMode="auto">
            <a:xfrm>
              <a:off x="192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24</a:t>
              </a:r>
            </a:p>
          </p:txBody>
        </p:sp>
        <p:sp>
          <p:nvSpPr>
            <p:cNvPr id="3081" name="Oval 9"/>
            <p:cNvSpPr>
              <a:spLocks noChangeArrowheads="1"/>
            </p:cNvSpPr>
            <p:nvPr/>
          </p:nvSpPr>
          <p:spPr bwMode="auto">
            <a:xfrm>
              <a:off x="2263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2" name="Oval 10"/>
            <p:cNvSpPr>
              <a:spLocks noChangeArrowheads="1"/>
            </p:cNvSpPr>
            <p:nvPr/>
          </p:nvSpPr>
          <p:spPr bwMode="auto">
            <a:xfrm>
              <a:off x="147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3" name="Oval 11"/>
            <p:cNvSpPr>
              <a:spLocks noChangeArrowheads="1"/>
            </p:cNvSpPr>
            <p:nvPr/>
          </p:nvSpPr>
          <p:spPr bwMode="auto">
            <a:xfrm>
              <a:off x="1663" y="1588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%</a:t>
              </a:r>
            </a:p>
          </p:txBody>
        </p:sp>
        <p:sp>
          <p:nvSpPr>
            <p:cNvPr id="3084" name="Oval 12"/>
            <p:cNvSpPr>
              <a:spLocks noChangeArrowheads="1"/>
            </p:cNvSpPr>
            <p:nvPr/>
          </p:nvSpPr>
          <p:spPr bwMode="auto">
            <a:xfrm>
              <a:off x="1212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48</a:t>
              </a:r>
            </a:p>
          </p:txBody>
        </p:sp>
        <p:sp>
          <p:nvSpPr>
            <p:cNvPr id="3085" name="Oval 13"/>
            <p:cNvSpPr>
              <a:spLocks noChangeArrowheads="1"/>
            </p:cNvSpPr>
            <p:nvPr/>
          </p:nvSpPr>
          <p:spPr bwMode="auto">
            <a:xfrm>
              <a:off x="1475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3086" name="Oval 14"/>
            <p:cNvSpPr>
              <a:spLocks noChangeArrowheads="1"/>
            </p:cNvSpPr>
            <p:nvPr/>
          </p:nvSpPr>
          <p:spPr bwMode="auto">
            <a:xfrm>
              <a:off x="1850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87" name="Oval 15"/>
            <p:cNvSpPr>
              <a:spLocks noChangeArrowheads="1"/>
            </p:cNvSpPr>
            <p:nvPr/>
          </p:nvSpPr>
          <p:spPr bwMode="auto">
            <a:xfrm>
              <a:off x="2563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88" name="Oval 16"/>
            <p:cNvSpPr>
              <a:spLocks noChangeArrowheads="1"/>
            </p:cNvSpPr>
            <p:nvPr/>
          </p:nvSpPr>
          <p:spPr bwMode="auto">
            <a:xfrm>
              <a:off x="2301" y="1904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3089" name="Oval 17"/>
            <p:cNvSpPr>
              <a:spLocks noChangeArrowheads="1"/>
            </p:cNvSpPr>
            <p:nvPr/>
          </p:nvSpPr>
          <p:spPr bwMode="auto">
            <a:xfrm>
              <a:off x="2788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90" name="Line 18"/>
            <p:cNvSpPr>
              <a:spLocks noChangeShapeType="1"/>
            </p:cNvSpPr>
            <p:nvPr/>
          </p:nvSpPr>
          <p:spPr bwMode="auto">
            <a:xfrm flipH="1">
              <a:off x="1850" y="780"/>
              <a:ext cx="225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1" name="Line 19"/>
            <p:cNvSpPr>
              <a:spLocks noChangeShapeType="1"/>
            </p:cNvSpPr>
            <p:nvPr/>
          </p:nvSpPr>
          <p:spPr bwMode="auto">
            <a:xfrm>
              <a:off x="2225" y="780"/>
              <a:ext cx="226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2" name="Line 20"/>
            <p:cNvSpPr>
              <a:spLocks noChangeShapeType="1"/>
            </p:cNvSpPr>
            <p:nvPr/>
          </p:nvSpPr>
          <p:spPr bwMode="auto">
            <a:xfrm flipH="1">
              <a:off x="1587" y="1026"/>
              <a:ext cx="113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3" name="Line 21"/>
            <p:cNvSpPr>
              <a:spLocks noChangeShapeType="1"/>
            </p:cNvSpPr>
            <p:nvPr/>
          </p:nvSpPr>
          <p:spPr bwMode="auto">
            <a:xfrm>
              <a:off x="1888" y="1026"/>
              <a:ext cx="150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4" name="Line 22"/>
            <p:cNvSpPr>
              <a:spLocks noChangeShapeType="1"/>
            </p:cNvSpPr>
            <p:nvPr/>
          </p:nvSpPr>
          <p:spPr bwMode="auto">
            <a:xfrm flipH="1">
              <a:off x="2376" y="1026"/>
              <a:ext cx="112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5" name="Line 23"/>
            <p:cNvSpPr>
              <a:spLocks noChangeShapeType="1"/>
            </p:cNvSpPr>
            <p:nvPr/>
          </p:nvSpPr>
          <p:spPr bwMode="auto">
            <a:xfrm flipH="1">
              <a:off x="1287" y="1378"/>
              <a:ext cx="225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6" name="Line 24"/>
            <p:cNvSpPr>
              <a:spLocks noChangeShapeType="1"/>
            </p:cNvSpPr>
            <p:nvPr/>
          </p:nvSpPr>
          <p:spPr bwMode="auto">
            <a:xfrm>
              <a:off x="1625" y="1378"/>
              <a:ext cx="150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7" name="Line 25"/>
            <p:cNvSpPr>
              <a:spLocks noChangeShapeType="1"/>
            </p:cNvSpPr>
            <p:nvPr/>
          </p:nvSpPr>
          <p:spPr bwMode="auto">
            <a:xfrm flipH="1">
              <a:off x="1550" y="1729"/>
              <a:ext cx="11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8" name="Line 26"/>
            <p:cNvSpPr>
              <a:spLocks noChangeShapeType="1"/>
            </p:cNvSpPr>
            <p:nvPr/>
          </p:nvSpPr>
          <p:spPr bwMode="auto">
            <a:xfrm>
              <a:off x="1813" y="1729"/>
              <a:ext cx="150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9" name="Line 27"/>
            <p:cNvSpPr>
              <a:spLocks noChangeShapeType="1"/>
            </p:cNvSpPr>
            <p:nvPr/>
          </p:nvSpPr>
          <p:spPr bwMode="auto">
            <a:xfrm>
              <a:off x="2413" y="1413"/>
              <a:ext cx="26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0" name="Line 28"/>
            <p:cNvSpPr>
              <a:spLocks noChangeShapeType="1"/>
            </p:cNvSpPr>
            <p:nvPr/>
          </p:nvSpPr>
          <p:spPr bwMode="auto">
            <a:xfrm flipH="1">
              <a:off x="24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1" name="Line 29"/>
            <p:cNvSpPr>
              <a:spLocks noChangeShapeType="1"/>
            </p:cNvSpPr>
            <p:nvPr/>
          </p:nvSpPr>
          <p:spPr bwMode="auto">
            <a:xfrm>
              <a:off x="27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2" name="Rectangle 30"/>
            <p:cNvSpPr>
              <a:spLocks noChangeArrowheads="1"/>
            </p:cNvSpPr>
            <p:nvPr/>
          </p:nvSpPr>
          <p:spPr bwMode="auto">
            <a:xfrm>
              <a:off x="1137" y="640"/>
              <a:ext cx="150" cy="1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3" name="Text Box 31"/>
            <p:cNvSpPr txBox="1">
              <a:spLocks noChangeArrowheads="1"/>
            </p:cNvSpPr>
            <p:nvPr/>
          </p:nvSpPr>
          <p:spPr bwMode="auto">
            <a:xfrm>
              <a:off x="912" y="640"/>
              <a:ext cx="2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3104" name="Line 32"/>
            <p:cNvSpPr>
              <a:spLocks noChangeShapeType="1"/>
            </p:cNvSpPr>
            <p:nvPr/>
          </p:nvSpPr>
          <p:spPr bwMode="auto">
            <a:xfrm flipV="1">
              <a:off x="1212" y="710"/>
              <a:ext cx="8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5" name="Oval 33"/>
            <p:cNvSpPr>
              <a:spLocks noChangeArrowheads="1"/>
            </p:cNvSpPr>
            <p:nvPr/>
          </p:nvSpPr>
          <p:spPr bwMode="auto">
            <a:xfrm>
              <a:off x="2688" y="120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3106" name="Oval 34"/>
            <p:cNvSpPr>
              <a:spLocks noChangeArrowheads="1"/>
            </p:cNvSpPr>
            <p:nvPr/>
          </p:nvSpPr>
          <p:spPr bwMode="auto">
            <a:xfrm>
              <a:off x="2064" y="158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18</a:t>
              </a:r>
            </a:p>
          </p:txBody>
        </p:sp>
        <p:sp>
          <p:nvSpPr>
            <p:cNvPr id="3107" name="Line 35"/>
            <p:cNvSpPr>
              <a:spLocks noChangeShapeType="1"/>
            </p:cNvSpPr>
            <p:nvPr/>
          </p:nvSpPr>
          <p:spPr bwMode="auto">
            <a:xfrm>
              <a:off x="2640" y="1008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8" name="Line 36"/>
            <p:cNvSpPr>
              <a:spLocks noChangeShapeType="1"/>
            </p:cNvSpPr>
            <p:nvPr/>
          </p:nvSpPr>
          <p:spPr bwMode="auto">
            <a:xfrm flipH="1">
              <a:off x="2160" y="1392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55"/>
          <p:cNvSpPr txBox="1">
            <a:spLocks noChangeArrowheads="1"/>
          </p:cNvSpPr>
          <p:nvPr/>
        </p:nvSpPr>
        <p:spPr bwMode="auto">
          <a:xfrm>
            <a:off x="60325" y="112713"/>
            <a:ext cx="90460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+mj-lt"/>
              <a:buAutoNum type="arabicPeriod" startAt="3"/>
            </a:pPr>
            <a:r>
              <a:rPr lang="en-US" dirty="0"/>
              <a:t>The elements in a binary tree area to be stored in an array.  Each element is a </a:t>
            </a:r>
          </a:p>
          <a:p>
            <a:pPr lvl="2" eaLnBrk="1" hangingPunct="1"/>
            <a:r>
              <a:rPr lang="en-US" dirty="0"/>
              <a:t>nonnegative int value.</a:t>
            </a:r>
          </a:p>
          <a:p>
            <a:pPr eaLnBrk="1" hangingPunct="1"/>
            <a:r>
              <a:rPr lang="en-US" dirty="0"/>
              <a:t>a.  What value can you use as a dummy value, if the binary tree is not complete? </a:t>
            </a:r>
            <a:r>
              <a:rPr lang="en-US" u="sng" dirty="0"/>
              <a:t> null</a:t>
            </a:r>
            <a:r>
              <a:rPr lang="en-US" dirty="0"/>
              <a:t>_</a:t>
            </a:r>
          </a:p>
          <a:p>
            <a:pPr eaLnBrk="1" hangingPunct="1"/>
            <a:r>
              <a:rPr lang="en-US" dirty="0"/>
              <a:t>b.  Show the contents of the array, given the tree illustrated below</a:t>
            </a:r>
          </a:p>
        </p:txBody>
      </p:sp>
      <p:sp>
        <p:nvSpPr>
          <p:cNvPr id="4099" name="Oval 144"/>
          <p:cNvSpPr>
            <a:spLocks noChangeArrowheads="1"/>
          </p:cNvSpPr>
          <p:nvPr/>
        </p:nvSpPr>
        <p:spPr bwMode="auto">
          <a:xfrm>
            <a:off x="5486400" y="2057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14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0" name="Oval 146"/>
          <p:cNvSpPr>
            <a:spLocks noChangeArrowheads="1"/>
          </p:cNvSpPr>
          <p:nvPr/>
        </p:nvSpPr>
        <p:spPr bwMode="auto">
          <a:xfrm>
            <a:off x="46482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73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1" name="Oval 147"/>
          <p:cNvSpPr>
            <a:spLocks noChangeArrowheads="1"/>
          </p:cNvSpPr>
          <p:nvPr/>
        </p:nvSpPr>
        <p:spPr bwMode="auto">
          <a:xfrm>
            <a:off x="62484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21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2" name="Oval 148"/>
          <p:cNvSpPr>
            <a:spLocks noChangeArrowheads="1"/>
          </p:cNvSpPr>
          <p:nvPr/>
        </p:nvSpPr>
        <p:spPr bwMode="auto">
          <a:xfrm>
            <a:off x="37338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3" name="Oval 149"/>
          <p:cNvSpPr>
            <a:spLocks noChangeArrowheads="1"/>
          </p:cNvSpPr>
          <p:nvPr/>
        </p:nvSpPr>
        <p:spPr bwMode="auto">
          <a:xfrm>
            <a:off x="42672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51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4" name="Oval 150"/>
          <p:cNvSpPr>
            <a:spLocks noChangeArrowheads="1"/>
          </p:cNvSpPr>
          <p:nvPr/>
        </p:nvSpPr>
        <p:spPr bwMode="auto">
          <a:xfrm>
            <a:off x="5486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19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5" name="Oval 151"/>
          <p:cNvSpPr>
            <a:spLocks noChangeArrowheads="1"/>
          </p:cNvSpPr>
          <p:nvPr/>
        </p:nvSpPr>
        <p:spPr bwMode="auto">
          <a:xfrm>
            <a:off x="7010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6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8" name="Oval 154"/>
          <p:cNvSpPr>
            <a:spLocks noChangeArrowheads="1"/>
          </p:cNvSpPr>
          <p:nvPr/>
        </p:nvSpPr>
        <p:spPr bwMode="auto">
          <a:xfrm>
            <a:off x="75438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45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9" name="Line 155"/>
          <p:cNvSpPr>
            <a:spLocks noChangeShapeType="1"/>
          </p:cNvSpPr>
          <p:nvPr/>
        </p:nvSpPr>
        <p:spPr bwMode="auto">
          <a:xfrm flipH="1">
            <a:off x="4876800" y="24384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6"/>
          <p:cNvSpPr>
            <a:spLocks noChangeShapeType="1"/>
          </p:cNvSpPr>
          <p:nvPr/>
        </p:nvSpPr>
        <p:spPr bwMode="auto">
          <a:xfrm>
            <a:off x="5867400" y="2438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57"/>
          <p:cNvSpPr>
            <a:spLocks noChangeShapeType="1"/>
          </p:cNvSpPr>
          <p:nvPr/>
        </p:nvSpPr>
        <p:spPr bwMode="auto">
          <a:xfrm flipH="1">
            <a:off x="3962400" y="3200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Line 158"/>
          <p:cNvSpPr>
            <a:spLocks noChangeShapeType="1"/>
          </p:cNvSpPr>
          <p:nvPr/>
        </p:nvSpPr>
        <p:spPr bwMode="auto">
          <a:xfrm flipH="1">
            <a:off x="5715000" y="31242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Line 159"/>
          <p:cNvSpPr>
            <a:spLocks noChangeShapeType="1"/>
          </p:cNvSpPr>
          <p:nvPr/>
        </p:nvSpPr>
        <p:spPr bwMode="auto">
          <a:xfrm>
            <a:off x="41148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4" name="Line 160"/>
          <p:cNvSpPr>
            <a:spLocks noChangeShapeType="1"/>
          </p:cNvSpPr>
          <p:nvPr/>
        </p:nvSpPr>
        <p:spPr bwMode="auto">
          <a:xfrm>
            <a:off x="6705600" y="3200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7" name="Line 163"/>
          <p:cNvSpPr>
            <a:spLocks noChangeShapeType="1"/>
          </p:cNvSpPr>
          <p:nvPr/>
        </p:nvSpPr>
        <p:spPr bwMode="auto">
          <a:xfrm>
            <a:off x="73914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8" name="Rectangle 165"/>
          <p:cNvSpPr>
            <a:spLocks noChangeArrowheads="1"/>
          </p:cNvSpPr>
          <p:nvPr/>
        </p:nvSpPr>
        <p:spPr bwMode="auto">
          <a:xfrm>
            <a:off x="4038600" y="2057400"/>
            <a:ext cx="304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9" name="Line 166"/>
          <p:cNvSpPr>
            <a:spLocks noChangeShapeType="1"/>
          </p:cNvSpPr>
          <p:nvPr/>
        </p:nvSpPr>
        <p:spPr bwMode="auto">
          <a:xfrm>
            <a:off x="4191000" y="2286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0" name="Text Box 167"/>
          <p:cNvSpPr txBox="1">
            <a:spLocks noChangeArrowheads="1"/>
          </p:cNvSpPr>
          <p:nvPr/>
        </p:nvSpPr>
        <p:spPr bwMode="auto">
          <a:xfrm>
            <a:off x="3962400" y="1828800"/>
            <a:ext cx="4143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200">
                <a:latin typeface="Times New Roman" pitchFamily="18" charset="0"/>
              </a:rPr>
              <a:t>tree</a:t>
            </a:r>
          </a:p>
        </p:txBody>
      </p:sp>
      <p:grpSp>
        <p:nvGrpSpPr>
          <p:cNvPr id="4122" name="Group 188"/>
          <p:cNvGrpSpPr>
            <a:grpSpLocks/>
          </p:cNvGrpSpPr>
          <p:nvPr/>
        </p:nvGrpSpPr>
        <p:grpSpPr bwMode="auto">
          <a:xfrm>
            <a:off x="989013" y="1524000"/>
            <a:ext cx="1068388" cy="4937125"/>
            <a:chOff x="623" y="960"/>
            <a:chExt cx="673" cy="3110"/>
          </a:xfrm>
        </p:grpSpPr>
        <p:sp>
          <p:nvSpPr>
            <p:cNvPr id="4124" name="Rectangle 169"/>
            <p:cNvSpPr>
              <a:spLocks noChangeArrowheads="1"/>
            </p:cNvSpPr>
            <p:nvPr/>
          </p:nvSpPr>
          <p:spPr bwMode="auto">
            <a:xfrm>
              <a:off x="960" y="960"/>
              <a:ext cx="336" cy="30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Text Box 170"/>
            <p:cNvSpPr txBox="1">
              <a:spLocks noChangeArrowheads="1"/>
            </p:cNvSpPr>
            <p:nvPr/>
          </p:nvSpPr>
          <p:spPr bwMode="auto">
            <a:xfrm>
              <a:off x="623" y="1104"/>
              <a:ext cx="385" cy="29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[14]</a:t>
              </a:r>
            </a:p>
          </p:txBody>
        </p:sp>
        <p:sp>
          <p:nvSpPr>
            <p:cNvPr id="4126" name="Line 171"/>
            <p:cNvSpPr>
              <a:spLocks noChangeShapeType="1"/>
            </p:cNvSpPr>
            <p:nvPr/>
          </p:nvSpPr>
          <p:spPr bwMode="auto">
            <a:xfrm>
              <a:off x="960" y="40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Line 172"/>
            <p:cNvSpPr>
              <a:spLocks noChangeShapeType="1"/>
            </p:cNvSpPr>
            <p:nvPr/>
          </p:nvSpPr>
          <p:spPr bwMode="auto">
            <a:xfrm>
              <a:off x="960" y="384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Line 173"/>
            <p:cNvSpPr>
              <a:spLocks noChangeShapeType="1"/>
            </p:cNvSpPr>
            <p:nvPr/>
          </p:nvSpPr>
          <p:spPr bwMode="auto">
            <a:xfrm>
              <a:off x="960" y="364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74"/>
            <p:cNvSpPr>
              <a:spLocks noChangeShapeType="1"/>
            </p:cNvSpPr>
            <p:nvPr/>
          </p:nvSpPr>
          <p:spPr bwMode="auto">
            <a:xfrm>
              <a:off x="960" y="345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Line 175"/>
            <p:cNvSpPr>
              <a:spLocks noChangeShapeType="1"/>
            </p:cNvSpPr>
            <p:nvPr/>
          </p:nvSpPr>
          <p:spPr bwMode="auto">
            <a:xfrm>
              <a:off x="96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Line 176"/>
            <p:cNvSpPr>
              <a:spLocks noChangeShapeType="1"/>
            </p:cNvSpPr>
            <p:nvPr/>
          </p:nvSpPr>
          <p:spPr bwMode="auto">
            <a:xfrm>
              <a:off x="960" y="307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Line 177"/>
            <p:cNvSpPr>
              <a:spLocks noChangeShapeType="1"/>
            </p:cNvSpPr>
            <p:nvPr/>
          </p:nvSpPr>
          <p:spPr bwMode="auto">
            <a:xfrm>
              <a:off x="960" y="288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3" name="Line 178"/>
            <p:cNvSpPr>
              <a:spLocks noChangeShapeType="1"/>
            </p:cNvSpPr>
            <p:nvPr/>
          </p:nvSpPr>
          <p:spPr bwMode="auto">
            <a:xfrm>
              <a:off x="960" y="268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Line 179"/>
            <p:cNvSpPr>
              <a:spLocks noChangeShapeType="1"/>
            </p:cNvSpPr>
            <p:nvPr/>
          </p:nvSpPr>
          <p:spPr bwMode="auto">
            <a:xfrm>
              <a:off x="960" y="249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Line 180"/>
            <p:cNvSpPr>
              <a:spLocks noChangeShapeType="1"/>
            </p:cNvSpPr>
            <p:nvPr/>
          </p:nvSpPr>
          <p:spPr bwMode="auto">
            <a:xfrm>
              <a:off x="960" y="230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Line 181"/>
            <p:cNvSpPr>
              <a:spLocks noChangeShapeType="1"/>
            </p:cNvSpPr>
            <p:nvPr/>
          </p:nvSpPr>
          <p:spPr bwMode="auto">
            <a:xfrm>
              <a:off x="960" y="211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Line 182"/>
            <p:cNvSpPr>
              <a:spLocks noChangeShapeType="1"/>
            </p:cNvSpPr>
            <p:nvPr/>
          </p:nvSpPr>
          <p:spPr bwMode="auto">
            <a:xfrm>
              <a:off x="960" y="192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8" name="Line 183"/>
            <p:cNvSpPr>
              <a:spLocks noChangeShapeType="1"/>
            </p:cNvSpPr>
            <p:nvPr/>
          </p:nvSpPr>
          <p:spPr bwMode="auto">
            <a:xfrm>
              <a:off x="960" y="17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Line 184"/>
            <p:cNvSpPr>
              <a:spLocks noChangeShapeType="1"/>
            </p:cNvSpPr>
            <p:nvPr/>
          </p:nvSpPr>
          <p:spPr bwMode="auto">
            <a:xfrm>
              <a:off x="960" y="153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0" name="Line 185"/>
            <p:cNvSpPr>
              <a:spLocks noChangeShapeType="1"/>
            </p:cNvSpPr>
            <p:nvPr/>
          </p:nvSpPr>
          <p:spPr bwMode="auto">
            <a:xfrm>
              <a:off x="960" y="13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41" name="Line 186"/>
            <p:cNvSpPr>
              <a:spLocks noChangeShapeType="1"/>
            </p:cNvSpPr>
            <p:nvPr/>
          </p:nvSpPr>
          <p:spPr bwMode="auto">
            <a:xfrm>
              <a:off x="960" y="115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1332707" y="1303337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AA37BE-A1F9-BCBA-B8E8-1920055953AC}"/>
              </a:ext>
            </a:extLst>
          </p:cNvPr>
          <p:cNvSpPr txBox="1"/>
          <p:nvPr/>
        </p:nvSpPr>
        <p:spPr>
          <a:xfrm>
            <a:off x="1524001" y="1779234"/>
            <a:ext cx="48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A5557B-07EC-FD7A-582A-08CC4F3C67DC}"/>
              </a:ext>
            </a:extLst>
          </p:cNvPr>
          <p:cNvSpPr txBox="1"/>
          <p:nvPr/>
        </p:nvSpPr>
        <p:spPr>
          <a:xfrm>
            <a:off x="1558038" y="2145268"/>
            <a:ext cx="48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C04E1-A50A-37F0-A91F-BD8A9E11B386}"/>
              </a:ext>
            </a:extLst>
          </p:cNvPr>
          <p:cNvSpPr txBox="1"/>
          <p:nvPr/>
        </p:nvSpPr>
        <p:spPr>
          <a:xfrm>
            <a:off x="1540237" y="2423805"/>
            <a:ext cx="48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9AA604-32C2-EE61-13A9-60B1032FC776}"/>
              </a:ext>
            </a:extLst>
          </p:cNvPr>
          <p:cNvSpPr txBox="1"/>
          <p:nvPr/>
        </p:nvSpPr>
        <p:spPr>
          <a:xfrm>
            <a:off x="1588020" y="2741125"/>
            <a:ext cx="48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DD9178-C652-7857-93C9-24380A249F1B}"/>
              </a:ext>
            </a:extLst>
          </p:cNvPr>
          <p:cNvSpPr txBox="1"/>
          <p:nvPr/>
        </p:nvSpPr>
        <p:spPr>
          <a:xfrm>
            <a:off x="1536180" y="3633073"/>
            <a:ext cx="48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E43AC0-CEA2-9E1E-2428-BB4A0762E1A9}"/>
              </a:ext>
            </a:extLst>
          </p:cNvPr>
          <p:cNvSpPr txBox="1"/>
          <p:nvPr/>
        </p:nvSpPr>
        <p:spPr>
          <a:xfrm>
            <a:off x="1572720" y="3028439"/>
            <a:ext cx="48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CE61BE-D024-FE6F-A14C-83AAE6CEEADB}"/>
              </a:ext>
            </a:extLst>
          </p:cNvPr>
          <p:cNvSpPr txBox="1"/>
          <p:nvPr/>
        </p:nvSpPr>
        <p:spPr>
          <a:xfrm>
            <a:off x="1586461" y="3320745"/>
            <a:ext cx="48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BCA08A-5BD4-F3C9-CAA6-AF84CB9559EC}"/>
              </a:ext>
            </a:extLst>
          </p:cNvPr>
          <p:cNvSpPr txBox="1"/>
          <p:nvPr/>
        </p:nvSpPr>
        <p:spPr>
          <a:xfrm>
            <a:off x="1558038" y="3958866"/>
            <a:ext cx="48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68E5C1-F162-4923-AF6A-0D522335FCA9}"/>
              </a:ext>
            </a:extLst>
          </p:cNvPr>
          <p:cNvGrpSpPr/>
          <p:nvPr/>
        </p:nvGrpSpPr>
        <p:grpSpPr>
          <a:xfrm>
            <a:off x="990600" y="1524001"/>
            <a:ext cx="1066800" cy="4398227"/>
            <a:chOff x="990600" y="1524001"/>
            <a:chExt cx="1066800" cy="4398227"/>
          </a:xfrm>
        </p:grpSpPr>
        <p:sp>
          <p:nvSpPr>
            <p:cNvPr id="5155" name="Rectangle 86"/>
            <p:cNvSpPr>
              <a:spLocks noChangeArrowheads="1"/>
            </p:cNvSpPr>
            <p:nvPr/>
          </p:nvSpPr>
          <p:spPr bwMode="auto">
            <a:xfrm>
              <a:off x="1524000" y="1524001"/>
              <a:ext cx="533400" cy="434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Text Box 87"/>
            <p:cNvSpPr txBox="1">
              <a:spLocks noChangeArrowheads="1"/>
            </p:cNvSpPr>
            <p:nvPr/>
          </p:nvSpPr>
          <p:spPr bwMode="auto">
            <a:xfrm>
              <a:off x="990600" y="1828800"/>
              <a:ext cx="611065" cy="4093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</p:txBody>
        </p:sp>
        <p:sp>
          <p:nvSpPr>
            <p:cNvPr id="5160" name="Line 91"/>
            <p:cNvSpPr>
              <a:spLocks noChangeShapeType="1"/>
            </p:cNvSpPr>
            <p:nvPr/>
          </p:nvSpPr>
          <p:spPr bwMode="auto">
            <a:xfrm>
              <a:off x="1524000" y="553239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Line 92"/>
            <p:cNvSpPr>
              <a:spLocks noChangeShapeType="1"/>
            </p:cNvSpPr>
            <p:nvPr/>
          </p:nvSpPr>
          <p:spPr bwMode="auto">
            <a:xfrm>
              <a:off x="1524000" y="522405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2" name="Line 93"/>
            <p:cNvSpPr>
              <a:spLocks noChangeShapeType="1"/>
            </p:cNvSpPr>
            <p:nvPr/>
          </p:nvSpPr>
          <p:spPr bwMode="auto">
            <a:xfrm>
              <a:off x="1524000" y="491571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3" name="Line 94"/>
            <p:cNvSpPr>
              <a:spLocks noChangeShapeType="1"/>
            </p:cNvSpPr>
            <p:nvPr/>
          </p:nvSpPr>
          <p:spPr bwMode="auto">
            <a:xfrm>
              <a:off x="1524000" y="4607377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4" name="Line 95"/>
            <p:cNvSpPr>
              <a:spLocks noChangeShapeType="1"/>
            </p:cNvSpPr>
            <p:nvPr/>
          </p:nvSpPr>
          <p:spPr bwMode="auto">
            <a:xfrm>
              <a:off x="1524000" y="4299039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5" name="Line 96"/>
            <p:cNvSpPr>
              <a:spLocks noChangeShapeType="1"/>
            </p:cNvSpPr>
            <p:nvPr/>
          </p:nvSpPr>
          <p:spPr bwMode="auto">
            <a:xfrm>
              <a:off x="1524000" y="399070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6" name="Line 97"/>
            <p:cNvSpPr>
              <a:spLocks noChangeShapeType="1"/>
            </p:cNvSpPr>
            <p:nvPr/>
          </p:nvSpPr>
          <p:spPr bwMode="auto">
            <a:xfrm>
              <a:off x="1524000" y="368236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7" name="Line 98"/>
            <p:cNvSpPr>
              <a:spLocks noChangeShapeType="1"/>
            </p:cNvSpPr>
            <p:nvPr/>
          </p:nvSpPr>
          <p:spPr bwMode="auto">
            <a:xfrm>
              <a:off x="1524000" y="337402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8" name="Line 99"/>
            <p:cNvSpPr>
              <a:spLocks noChangeShapeType="1"/>
            </p:cNvSpPr>
            <p:nvPr/>
          </p:nvSpPr>
          <p:spPr bwMode="auto">
            <a:xfrm>
              <a:off x="1524000" y="306568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9" name="Line 100"/>
            <p:cNvSpPr>
              <a:spLocks noChangeShapeType="1"/>
            </p:cNvSpPr>
            <p:nvPr/>
          </p:nvSpPr>
          <p:spPr bwMode="auto">
            <a:xfrm>
              <a:off x="1524000" y="2757351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0" name="Line 101"/>
            <p:cNvSpPr>
              <a:spLocks noChangeShapeType="1"/>
            </p:cNvSpPr>
            <p:nvPr/>
          </p:nvSpPr>
          <p:spPr bwMode="auto">
            <a:xfrm>
              <a:off x="1524000" y="2449013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" name="Line 102"/>
            <p:cNvSpPr>
              <a:spLocks noChangeShapeType="1"/>
            </p:cNvSpPr>
            <p:nvPr/>
          </p:nvSpPr>
          <p:spPr bwMode="auto">
            <a:xfrm>
              <a:off x="1524000" y="214067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2" name="Line 103"/>
            <p:cNvSpPr>
              <a:spLocks noChangeShapeType="1"/>
            </p:cNvSpPr>
            <p:nvPr/>
          </p:nvSpPr>
          <p:spPr bwMode="auto">
            <a:xfrm>
              <a:off x="1524000" y="183233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3" name="Text Box 105"/>
          <p:cNvSpPr txBox="1">
            <a:spLocks noChangeArrowheads="1"/>
          </p:cNvSpPr>
          <p:nvPr/>
        </p:nvSpPr>
        <p:spPr bwMode="auto">
          <a:xfrm>
            <a:off x="212725" y="190500"/>
            <a:ext cx="64149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buFont typeface="+mj-lt"/>
              <a:buAutoNum type="arabicPeriod" startAt="4"/>
            </a:pPr>
            <a:r>
              <a:rPr lang="en-US" dirty="0">
                <a:latin typeface="Times New Roman" pitchFamily="18" charset="0"/>
              </a:rPr>
              <a:t>Given the array pictured below, draw the binary tree that can be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created from its elements.  </a:t>
            </a:r>
          </a:p>
        </p:txBody>
      </p:sp>
      <p:sp>
        <p:nvSpPr>
          <p:cNvPr id="5124" name="Text Box 106"/>
          <p:cNvSpPr txBox="1">
            <a:spLocks noChangeArrowheads="1"/>
          </p:cNvSpPr>
          <p:nvPr/>
        </p:nvSpPr>
        <p:spPr bwMode="auto">
          <a:xfrm>
            <a:off x="1524000" y="1447800"/>
            <a:ext cx="58221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en-US" sz="2000" dirty="0">
              <a:latin typeface="Times New Roman" pitchFamily="18" charset="0"/>
            </a:endParaRP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35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71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52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63</a:t>
            </a:r>
          </a:p>
          <a:p>
            <a:pPr algn="ctr" eaLnBrk="1" hangingPunct="1">
              <a:spcBef>
                <a:spcPts val="300"/>
              </a:spcBef>
            </a:pPr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17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912CDEB-642C-AD7B-B941-5E568539FD35}"/>
              </a:ext>
            </a:extLst>
          </p:cNvPr>
          <p:cNvSpPr/>
          <p:nvPr/>
        </p:nvSpPr>
        <p:spPr>
          <a:xfrm>
            <a:off x="5791200" y="980172"/>
            <a:ext cx="685800" cy="64633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35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311A30-F944-76A3-19FD-3A4377D25DCA}"/>
              </a:ext>
            </a:extLst>
          </p:cNvPr>
          <p:cNvSpPr/>
          <p:nvPr/>
        </p:nvSpPr>
        <p:spPr>
          <a:xfrm>
            <a:off x="4313686" y="1817509"/>
            <a:ext cx="685800" cy="64633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2410BBD-E721-B3C3-5217-DA66D41DCD83}"/>
              </a:ext>
            </a:extLst>
          </p:cNvPr>
          <p:cNvSpPr/>
          <p:nvPr/>
        </p:nvSpPr>
        <p:spPr>
          <a:xfrm>
            <a:off x="7161585" y="1828800"/>
            <a:ext cx="685800" cy="64633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8C51326-C6AF-9567-FEC6-515CEA8CBF7B}"/>
              </a:ext>
            </a:extLst>
          </p:cNvPr>
          <p:cNvSpPr/>
          <p:nvPr/>
        </p:nvSpPr>
        <p:spPr>
          <a:xfrm>
            <a:off x="3420205" y="2727695"/>
            <a:ext cx="685800" cy="64633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CD503B0-CD61-C8BE-ADCE-E3C15E41F0EF}"/>
              </a:ext>
            </a:extLst>
          </p:cNvPr>
          <p:cNvSpPr/>
          <p:nvPr/>
        </p:nvSpPr>
        <p:spPr>
          <a:xfrm>
            <a:off x="5105400" y="2792663"/>
            <a:ext cx="685800" cy="64633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90B076B-4458-190A-8793-E15EF938F294}"/>
              </a:ext>
            </a:extLst>
          </p:cNvPr>
          <p:cNvSpPr/>
          <p:nvPr/>
        </p:nvSpPr>
        <p:spPr>
          <a:xfrm>
            <a:off x="6627686" y="2835123"/>
            <a:ext cx="685800" cy="64633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EF2DAC-11E2-0823-117E-021705734003}"/>
              </a:ext>
            </a:extLst>
          </p:cNvPr>
          <p:cNvSpPr/>
          <p:nvPr/>
        </p:nvSpPr>
        <p:spPr>
          <a:xfrm>
            <a:off x="2892125" y="3652708"/>
            <a:ext cx="685800" cy="64633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69A4D1B-BFA2-B337-FAD5-81B55F7A565F}"/>
              </a:ext>
            </a:extLst>
          </p:cNvPr>
          <p:cNvSpPr/>
          <p:nvPr/>
        </p:nvSpPr>
        <p:spPr>
          <a:xfrm>
            <a:off x="3844209" y="3648402"/>
            <a:ext cx="685800" cy="64633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2B3D75-5340-39F6-9BD6-3827BB9122B6}"/>
              </a:ext>
            </a:extLst>
          </p:cNvPr>
          <p:cNvSpPr/>
          <p:nvPr/>
        </p:nvSpPr>
        <p:spPr>
          <a:xfrm>
            <a:off x="5540294" y="3646769"/>
            <a:ext cx="685800" cy="64633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01B5F8A-5EEA-1137-3EDB-74BAD34844CF}"/>
              </a:ext>
            </a:extLst>
          </p:cNvPr>
          <p:cNvSpPr/>
          <p:nvPr/>
        </p:nvSpPr>
        <p:spPr>
          <a:xfrm>
            <a:off x="7225459" y="3781443"/>
            <a:ext cx="685800" cy="64633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EE0080-3DFE-7B5D-0ACA-48F27AA06318}"/>
              </a:ext>
            </a:extLst>
          </p:cNvPr>
          <p:cNvCxnSpPr>
            <a:stCxn id="3" idx="2"/>
            <a:endCxn id="4" idx="7"/>
          </p:cNvCxnSpPr>
          <p:nvPr/>
        </p:nvCxnSpPr>
        <p:spPr>
          <a:xfrm flipH="1">
            <a:off x="4899053" y="1303338"/>
            <a:ext cx="892147" cy="6088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A6ABA7-36A3-CC03-6F50-D7621437604D}"/>
              </a:ext>
            </a:extLst>
          </p:cNvPr>
          <p:cNvCxnSpPr/>
          <p:nvPr/>
        </p:nvCxnSpPr>
        <p:spPr>
          <a:xfrm flipH="1">
            <a:off x="3763105" y="2244048"/>
            <a:ext cx="892147" cy="6088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B300310-CB84-6866-F8BA-8A8246932242}"/>
              </a:ext>
            </a:extLst>
          </p:cNvPr>
          <p:cNvCxnSpPr/>
          <p:nvPr/>
        </p:nvCxnSpPr>
        <p:spPr>
          <a:xfrm flipH="1">
            <a:off x="2876883" y="3332784"/>
            <a:ext cx="892147" cy="6088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D8377B1-80C9-1B40-8F3E-E8031FE5482B}"/>
              </a:ext>
            </a:extLst>
          </p:cNvPr>
          <p:cNvCxnSpPr>
            <a:cxnSpLocks/>
          </p:cNvCxnSpPr>
          <p:nvPr/>
        </p:nvCxnSpPr>
        <p:spPr>
          <a:xfrm flipH="1" flipV="1">
            <a:off x="3762514" y="3353405"/>
            <a:ext cx="456664" cy="3947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B0145EF-21F5-DA45-87D2-7E36CFC27155}"/>
              </a:ext>
            </a:extLst>
          </p:cNvPr>
          <p:cNvCxnSpPr>
            <a:cxnSpLocks/>
          </p:cNvCxnSpPr>
          <p:nvPr/>
        </p:nvCxnSpPr>
        <p:spPr>
          <a:xfrm flipH="1" flipV="1">
            <a:off x="4769370" y="2363667"/>
            <a:ext cx="533400" cy="4424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C45CA7A-2CBF-A06D-C14D-90C059D63867}"/>
              </a:ext>
            </a:extLst>
          </p:cNvPr>
          <p:cNvCxnSpPr>
            <a:cxnSpLocks/>
          </p:cNvCxnSpPr>
          <p:nvPr/>
        </p:nvCxnSpPr>
        <p:spPr>
          <a:xfrm flipH="1" flipV="1">
            <a:off x="5533816" y="3401487"/>
            <a:ext cx="342256" cy="3799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175602-D1D4-181E-A4D5-2CE49CB34530}"/>
              </a:ext>
            </a:extLst>
          </p:cNvPr>
          <p:cNvCxnSpPr>
            <a:cxnSpLocks/>
          </p:cNvCxnSpPr>
          <p:nvPr/>
        </p:nvCxnSpPr>
        <p:spPr>
          <a:xfrm flipH="1">
            <a:off x="6970586" y="2280476"/>
            <a:ext cx="649414" cy="7703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C1050DC-F632-D8F3-ED3B-EF7A3FAB1501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6464075" y="1380219"/>
            <a:ext cx="797943" cy="5432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952EA40-421F-3792-15EE-9C3D0B3A85AA}"/>
              </a:ext>
            </a:extLst>
          </p:cNvPr>
          <p:cNvCxnSpPr>
            <a:cxnSpLocks/>
          </p:cNvCxnSpPr>
          <p:nvPr/>
        </p:nvCxnSpPr>
        <p:spPr>
          <a:xfrm>
            <a:off x="7136624" y="3387730"/>
            <a:ext cx="357691" cy="5538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430</Words>
  <Application>Microsoft Office PowerPoint</Application>
  <PresentationFormat>On-screen Show (4:3)</PresentationFormat>
  <Paragraphs>129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</vt:vector>
  </TitlesOfParts>
  <Company>Montgomery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Jeannette</dc:creator>
  <cp:lastModifiedBy>Lam, William P</cp:lastModifiedBy>
  <cp:revision>23</cp:revision>
  <cp:lastPrinted>2016-04-12T17:35:20Z</cp:lastPrinted>
  <dcterms:created xsi:type="dcterms:W3CDTF">2006-11-01T05:42:40Z</dcterms:created>
  <dcterms:modified xsi:type="dcterms:W3CDTF">2026-04-09T15:40:11Z</dcterms:modified>
</cp:coreProperties>
</file>